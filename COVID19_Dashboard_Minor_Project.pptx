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project: an interactive web dashboard for state-wise COVID-19 data (India, 2020-2022). One sentence: we turned raw data into an interactive visual analytics tool.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pipeline top to bottom. Emphasise this is a demonstration of data engineering plus visualization, not just charts.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claim a specific source. Say: historical state-wise dataset used for academic analysis. The table shown is a crop of the dashboard data grid.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Contrast the left (raw file) with the right (dashboard). The aim of the project is to bridge that gap.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Nine objectives. Read them quickly; the rest of the deck shows how each one was implemented.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Only technologies actually used in the repository are listed. Be ready to explain what each one does in one sentence.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left to right. Python ETL produces a processed dataset. The JavaScript engine filters, calculates and generates insights. The visualization engine draws charts and the map, which together form the dashboard.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nine steps are the checks the pipeline performs. The dashboard also shows a validation result (rows matched schema) after loading.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feature listed here is visible in the screenshot of the final dashboard. Point at it while presenting.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say "real-time". The data is historical (2020-2022); the map is interactive and updates when the user changes filters.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Charts shown are crops from the real dashboard. The vaccination chart combines yearly bars with a cumulative 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suggestion: change the year, then the metric, then click a state, and show that KPIs, charts, map and insights all change together.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dashboard also validates the uploaded file against the expected schema and offers a downloadable template.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explicit if asked: this is rule-based logic (comparisons, maximums, percentage changes). It is not AI or ML.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honest here. Examiners respect a clear list of limitations.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timeline quickly. Be ready to say which teammate did which step if asked.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Screenshots are from the working dashboard. Live demo recommended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that everything on the right is future scope, not implemented. Do not let anyone think prediction or ML is in the current system.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Placeholders (initials / icon) are used instead of photographs.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Invite questions. Keep the dashboard open for a live demo.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image" Target="../media/image-9-10.png"/><Relationship Id="rId11" Type="http://schemas.openxmlformats.org/officeDocument/2006/relationships/image" Target="../media/image-9-11.png"/><Relationship Id="rId12" Type="http://schemas.openxmlformats.org/officeDocument/2006/relationships/image" Target="../media/image-9-12.png"/><Relationship Id="rId13" Type="http://schemas.openxmlformats.org/officeDocument/2006/relationships/image" Target="../media/image-9-13.png"/><Relationship Id="rId14" Type="http://schemas.openxmlformats.org/officeDocument/2006/relationships/image" Target="../media/image-9-14.png"/><Relationship Id="rId15" Type="http://schemas.openxmlformats.org/officeDocument/2006/relationships/image" Target="../media/image-9-15.png"/><Relationship Id="rId16" Type="http://schemas.openxmlformats.org/officeDocument/2006/relationships/image" Target="../media/image-9-16.pn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image" Target="../media/image-11-9.png"/><Relationship Id="rId10" Type="http://schemas.openxmlformats.org/officeDocument/2006/relationships/image" Target="../media/image-11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image" Target="../media/image-12-8.png"/><Relationship Id="rId9" Type="http://schemas.openxmlformats.org/officeDocument/2006/relationships/image" Target="../media/image-12-9.png"/><Relationship Id="rId10" Type="http://schemas.openxmlformats.org/officeDocument/2006/relationships/image" Target="../media/image-12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0972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F7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BCA 5TH SEMESTER MINOR PROJECT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508760"/>
            <a:ext cx="65836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COVID-19 Data</a:t>
            </a:r>
            <a:endParaRPr lang="en-US" sz="4600" dirty="0"/>
          </a:p>
          <a:p>
            <a:pPr indent="0" marL="0">
              <a:buNone/>
            </a:pPr>
            <a:r>
              <a:rPr lang="en-US" sz="46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 Dashboard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520440"/>
            <a:ext cx="6035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4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State-wise COVID-19 Analysis and Interactive Data Visualization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40080" y="4663440"/>
            <a:ext cx="548640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9525">
            <a:solidFill>
              <a:srgbClr val="D9E4EC"/>
            </a:solidFill>
            <a:prstDash val="solid"/>
          </a:ln>
          <a:effectLst>
            <a:outerShdw sx="100000" sy="100000" kx="0" ky="0" algn="bl" rotWithShape="0" blurRad="101600" dist="25400" dir="5400000">
              <a:srgbClr val="0F2A4A">
                <a:alpha val="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68680" y="477316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Sigma University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5193792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/ Program: Bachelor of Computer Applications (BCA)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546811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7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 +  Web Development  +  Data Engineering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223760" y="822960"/>
            <a:ext cx="4434840" cy="5212080"/>
          </a:xfrm>
          <a:prstGeom prst="roundRect">
            <a:avLst>
              <a:gd name="adj" fmla="val 4124"/>
            </a:avLst>
          </a:prstGeom>
          <a:solidFill>
            <a:srgbClr val="FFFFFF"/>
          </a:solidFill>
          <a:ln w="9525">
            <a:solidFill>
              <a:srgbClr val="D9E4EC"/>
            </a:solidFill>
            <a:prstDash val="solid"/>
          </a:ln>
          <a:effectLst>
            <a:outerShdw sx="100000" sy="100000" kx="0" ky="0" algn="bl" rotWithShape="0" blurRad="101600" dist="25400" dir="5400000">
              <a:srgbClr val="0F2A4A">
                <a:alpha val="8000"/>
              </a:srgbClr>
            </a:outerShdw>
          </a:effectLst>
        </p:spPr>
      </p:sp>
      <p:pic>
        <p:nvPicPr>
          <p:cNvPr id="10" name="Image 0" descr="/home/claude/img/indi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57647" y="1051560"/>
            <a:ext cx="3567065" cy="365760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7498080" y="4892040"/>
            <a:ext cx="1828800" cy="41148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5875">
            <a:solidFill>
              <a:srgbClr val="1F7FB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498080" y="48920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7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Cases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9464040" y="4892040"/>
            <a:ext cx="1828800" cy="41148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5875">
            <a:solidFill>
              <a:srgbClr val="1BA784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9464040" y="48920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A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Recovered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7498080" y="5440680"/>
            <a:ext cx="1828800" cy="41148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5875">
            <a:solidFill>
              <a:srgbClr val="E5365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498080" y="54406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5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Deaths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9464040" y="5440680"/>
            <a:ext cx="1828800" cy="41148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5875">
            <a:solidFill>
              <a:srgbClr val="7C4DDB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9464040" y="54406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C4D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Vaccination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F7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|  PROJECT OVERVIEW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this project?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COVID-19 Data Visualization Dashboard  |  BCA 5th Semester Minor Project  |  Sigma University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091672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7160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interactive, web-based analytics dashboard that analyses and visualizes India's state-wise COVID-19 data from 2020 to 2022.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2514600"/>
            <a:ext cx="265176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D9E4EC"/>
            </a:solidFill>
            <a:prstDash val="solid"/>
          </a:ln>
          <a:effectLst>
            <a:outerShdw sx="100000" sy="100000" kx="0" ky="0" algn="bl" rotWithShape="0" blurRad="101600" dist="25400" dir="5400000">
              <a:srgbClr val="0F2A4A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85800" y="2651760"/>
            <a:ext cx="457200" cy="457200"/>
          </a:xfrm>
          <a:prstGeom prst="ellipse">
            <a:avLst/>
          </a:prstGeom>
          <a:solidFill>
            <a:srgbClr val="E8F3FA"/>
          </a:solidFill>
          <a:ln w="12700">
            <a:solidFill>
              <a:srgbClr val="E8F3FA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" y="2766060"/>
            <a:ext cx="228600" cy="22860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280160" y="251460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statistics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3337560" y="2514600"/>
            <a:ext cx="265176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D9E4EC"/>
            </a:solidFill>
            <a:prstDash val="solid"/>
          </a:ln>
          <a:effectLst>
            <a:outerShdw sx="100000" sy="100000" kx="0" ky="0" algn="bl" rotWithShape="0" blurRad="101600" dist="25400" dir="5400000">
              <a:srgbClr val="0F2A4A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474720" y="2651760"/>
            <a:ext cx="457200" cy="457200"/>
          </a:xfrm>
          <a:prstGeom prst="ellipse">
            <a:avLst/>
          </a:prstGeom>
          <a:solidFill>
            <a:srgbClr val="E8F3FA"/>
          </a:solidFill>
          <a:ln w="12700">
            <a:solidFill>
              <a:srgbClr val="E8F3FA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9020" y="2766060"/>
            <a:ext cx="228600" cy="22860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4069080" y="251460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Charts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548640" y="3383280"/>
            <a:ext cx="265176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D9E4EC"/>
            </a:solidFill>
            <a:prstDash val="solid"/>
          </a:ln>
          <a:effectLst>
            <a:outerShdw sx="100000" sy="100000" kx="0" ky="0" algn="bl" rotWithShape="0" blurRad="101600" dist="25400" dir="5400000">
              <a:srgbClr val="0F2A4A">
                <a:alpha val="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85800" y="3520440"/>
            <a:ext cx="457200" cy="457200"/>
          </a:xfrm>
          <a:prstGeom prst="ellipse">
            <a:avLst/>
          </a:prstGeom>
          <a:solidFill>
            <a:srgbClr val="E8F3FA"/>
          </a:solidFill>
          <a:ln w="12700">
            <a:solidFill>
              <a:srgbClr val="E8F3FA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" y="3634740"/>
            <a:ext cx="228600" cy="22860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280160" y="338328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map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3337560" y="3383280"/>
            <a:ext cx="265176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D9E4EC"/>
            </a:solidFill>
            <a:prstDash val="solid"/>
          </a:ln>
          <a:effectLst>
            <a:outerShdw sx="100000" sy="100000" kx="0" ky="0" algn="bl" rotWithShape="0" blurRad="101600" dist="25400" dir="5400000">
              <a:srgbClr val="0F2A4A">
                <a:alpha val="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3474720" y="3520440"/>
            <a:ext cx="457200" cy="457200"/>
          </a:xfrm>
          <a:prstGeom prst="ellipse">
            <a:avLst/>
          </a:prstGeom>
          <a:solidFill>
            <a:srgbClr val="E8F3FA"/>
          </a:solidFill>
          <a:ln w="12700">
            <a:solidFill>
              <a:srgbClr val="E8F3FA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9020" y="3634740"/>
            <a:ext cx="228600" cy="22860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4069080" y="338328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comparisons</a:t>
            </a:r>
            <a:endParaRPr lang="en-US" sz="1300" dirty="0"/>
          </a:p>
        </p:txBody>
      </p:sp>
      <p:sp>
        <p:nvSpPr>
          <p:cNvPr id="23" name="Shape 17"/>
          <p:cNvSpPr/>
          <p:nvPr/>
        </p:nvSpPr>
        <p:spPr>
          <a:xfrm>
            <a:off x="548640" y="4251960"/>
            <a:ext cx="265176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D9E4EC"/>
            </a:solidFill>
            <a:prstDash val="solid"/>
          </a:ln>
          <a:effectLst>
            <a:outerShdw sx="100000" sy="100000" kx="0" ky="0" algn="bl" rotWithShape="0" blurRad="101600" dist="25400" dir="5400000">
              <a:srgbClr val="0F2A4A">
                <a:alpha val="8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685800" y="4389120"/>
            <a:ext cx="457200" cy="457200"/>
          </a:xfrm>
          <a:prstGeom prst="ellipse">
            <a:avLst/>
          </a:prstGeom>
          <a:solidFill>
            <a:srgbClr val="E8F3FA"/>
          </a:solidFill>
          <a:ln w="12700">
            <a:solidFill>
              <a:srgbClr val="E8F3FA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0100" y="4503420"/>
            <a:ext cx="228600" cy="22860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1280160" y="4251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Year-wise analysis</a:t>
            </a:r>
            <a:endParaRPr lang="en-US" sz="1300" dirty="0"/>
          </a:p>
        </p:txBody>
      </p:sp>
      <p:sp>
        <p:nvSpPr>
          <p:cNvPr id="27" name="Shape 20"/>
          <p:cNvSpPr/>
          <p:nvPr/>
        </p:nvSpPr>
        <p:spPr>
          <a:xfrm>
            <a:off x="3337560" y="4251960"/>
            <a:ext cx="265176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D9E4EC"/>
            </a:solidFill>
            <a:prstDash val="solid"/>
          </a:ln>
          <a:effectLst>
            <a:outerShdw sx="100000" sy="100000" kx="0" ky="0" algn="bl" rotWithShape="0" blurRad="101600" dist="25400" dir="5400000">
              <a:srgbClr val="0F2A4A">
                <a:alpha val="8000"/>
              </a:srgbClr>
            </a:outerShdw>
          </a:effectLst>
        </p:spPr>
      </p:sp>
      <p:sp>
        <p:nvSpPr>
          <p:cNvPr id="28" name="Shape 21"/>
          <p:cNvSpPr/>
          <p:nvPr/>
        </p:nvSpPr>
        <p:spPr>
          <a:xfrm>
            <a:off x="3474720" y="4389120"/>
            <a:ext cx="457200" cy="457200"/>
          </a:xfrm>
          <a:prstGeom prst="ellipse">
            <a:avLst/>
          </a:prstGeom>
          <a:solidFill>
            <a:srgbClr val="E8F3FA"/>
          </a:solidFill>
          <a:ln w="12700">
            <a:solidFill>
              <a:srgbClr val="E8F3FA"/>
            </a:solidFill>
            <a:prstDash val="solid"/>
          </a:ln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89020" y="4503420"/>
            <a:ext cx="228600" cy="228600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4069080" y="4251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Vaccination analysis</a:t>
            </a:r>
            <a:endParaRPr lang="en-US" sz="1300" dirty="0"/>
          </a:p>
        </p:txBody>
      </p:sp>
      <p:sp>
        <p:nvSpPr>
          <p:cNvPr id="31" name="Shape 23"/>
          <p:cNvSpPr/>
          <p:nvPr/>
        </p:nvSpPr>
        <p:spPr>
          <a:xfrm>
            <a:off x="548640" y="5120640"/>
            <a:ext cx="265176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D9E4EC"/>
            </a:solidFill>
            <a:prstDash val="solid"/>
          </a:ln>
          <a:effectLst>
            <a:outerShdw sx="100000" sy="100000" kx="0" ky="0" algn="bl" rotWithShape="0" blurRad="101600" dist="25400" dir="5400000">
              <a:srgbClr val="0F2A4A">
                <a:alpha val="8000"/>
              </a:srgbClr>
            </a:outerShdw>
          </a:effectLst>
        </p:spPr>
      </p:sp>
      <p:sp>
        <p:nvSpPr>
          <p:cNvPr id="32" name="Shape 24"/>
          <p:cNvSpPr/>
          <p:nvPr/>
        </p:nvSpPr>
        <p:spPr>
          <a:xfrm>
            <a:off x="685800" y="5257800"/>
            <a:ext cx="457200" cy="457200"/>
          </a:xfrm>
          <a:prstGeom prst="ellipse">
            <a:avLst/>
          </a:prstGeom>
          <a:solidFill>
            <a:srgbClr val="E8F3FA"/>
          </a:solidFill>
          <a:ln w="12700">
            <a:solidFill>
              <a:srgbClr val="E8F3FA"/>
            </a:solidFill>
            <a:prstDash val="solid"/>
          </a:ln>
        </p:spPr>
      </p:sp>
      <p:pic>
        <p:nvPicPr>
          <p:cNvPr id="3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0100" y="5372100"/>
            <a:ext cx="228600" cy="228600"/>
          </a:xfrm>
          <a:prstGeom prst="rect">
            <a:avLst/>
          </a:prstGeom>
        </p:spPr>
      </p:pic>
      <p:sp>
        <p:nvSpPr>
          <p:cNvPr id="34" name="Text 25"/>
          <p:cNvSpPr txBox="1"/>
          <p:nvPr/>
        </p:nvSpPr>
        <p:spPr>
          <a:xfrm>
            <a:off x="1280160" y="512064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insights</a:t>
            </a:r>
            <a:endParaRPr lang="en-US" sz="1300" dirty="0"/>
          </a:p>
        </p:txBody>
      </p:sp>
      <p:sp>
        <p:nvSpPr>
          <p:cNvPr id="35" name="Shape 26"/>
          <p:cNvSpPr/>
          <p:nvPr/>
        </p:nvSpPr>
        <p:spPr>
          <a:xfrm>
            <a:off x="6675120" y="1371600"/>
            <a:ext cx="4965192" cy="4572000"/>
          </a:xfrm>
          <a:prstGeom prst="roundRect">
            <a:avLst>
              <a:gd name="adj" fmla="val 3000"/>
            </a:avLst>
          </a:prstGeom>
          <a:solidFill>
            <a:srgbClr val="F4F8FB"/>
          </a:solidFill>
          <a:ln w="9525">
            <a:solidFill>
              <a:srgbClr val="D9E4EC"/>
            </a:solidFill>
            <a:prstDash val="solid"/>
          </a:ln>
          <a:effectLst>
            <a:outerShdw sx="100000" sy="100000" kx="0" ky="0" algn="bl" rotWithShape="0" blurRad="101600" dist="25400" dir="5400000">
              <a:srgbClr val="0F2A4A">
                <a:alpha val="8000"/>
              </a:srgbClr>
            </a:outerShdw>
          </a:effectLst>
        </p:spPr>
      </p:sp>
      <p:sp>
        <p:nvSpPr>
          <p:cNvPr id="36" name="Text 27"/>
          <p:cNvSpPr txBox="1"/>
          <p:nvPr/>
        </p:nvSpPr>
        <p:spPr>
          <a:xfrm>
            <a:off x="6949440" y="1554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F7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IDEA</a:t>
            </a:r>
            <a:endParaRPr lang="en-US" sz="1100" dirty="0"/>
          </a:p>
        </p:txBody>
      </p:sp>
      <p:sp>
        <p:nvSpPr>
          <p:cNvPr id="37" name="Shape 28"/>
          <p:cNvSpPr/>
          <p:nvPr/>
        </p:nvSpPr>
        <p:spPr>
          <a:xfrm>
            <a:off x="7680960" y="1920240"/>
            <a:ext cx="3017520" cy="384048"/>
          </a:xfrm>
          <a:prstGeom prst="roundRect">
            <a:avLst>
              <a:gd name="adj" fmla="val 23810"/>
            </a:avLst>
          </a:prstGeom>
          <a:solidFill>
            <a:srgbClr val="FFFFFF"/>
          </a:solidFill>
          <a:ln w="15875">
            <a:solidFill>
              <a:srgbClr val="7A8A9A"/>
            </a:solidFill>
            <a:prstDash val="solid"/>
          </a:ln>
        </p:spPr>
      </p:sp>
      <p:sp>
        <p:nvSpPr>
          <p:cNvPr id="38" name="Text 29"/>
          <p:cNvSpPr txBox="1"/>
          <p:nvPr/>
        </p:nvSpPr>
        <p:spPr>
          <a:xfrm>
            <a:off x="7680960" y="1920240"/>
            <a:ext cx="301752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</a:t>
            </a:r>
            <a:endParaRPr lang="en-US" sz="1200" dirty="0"/>
          </a:p>
        </p:txBody>
      </p:sp>
      <p:sp>
        <p:nvSpPr>
          <p:cNvPr id="39" name="Shape 30"/>
          <p:cNvSpPr/>
          <p:nvPr/>
        </p:nvSpPr>
        <p:spPr>
          <a:xfrm>
            <a:off x="9189720" y="2322576"/>
            <a:ext cx="0" cy="109728"/>
          </a:xfrm>
          <a:prstGeom prst="line">
            <a:avLst/>
          </a:prstGeom>
          <a:noFill/>
          <a:ln w="15875">
            <a:solidFill>
              <a:srgbClr val="7A8A9A"/>
            </a:solidFill>
            <a:prstDash val="solid"/>
            <a:tailEnd type="triangle"/>
          </a:ln>
        </p:spPr>
      </p:sp>
      <p:sp>
        <p:nvSpPr>
          <p:cNvPr id="40" name="Shape 31"/>
          <p:cNvSpPr/>
          <p:nvPr/>
        </p:nvSpPr>
        <p:spPr>
          <a:xfrm>
            <a:off x="7680960" y="2450592"/>
            <a:ext cx="3017520" cy="384048"/>
          </a:xfrm>
          <a:prstGeom prst="roundRect">
            <a:avLst>
              <a:gd name="adj" fmla="val 23810"/>
            </a:avLst>
          </a:prstGeom>
          <a:solidFill>
            <a:srgbClr val="FFFFFF"/>
          </a:solidFill>
          <a:ln w="15875">
            <a:solidFill>
              <a:srgbClr val="1F7FBF"/>
            </a:solidFill>
            <a:prstDash val="solid"/>
          </a:ln>
        </p:spPr>
      </p:sp>
      <p:sp>
        <p:nvSpPr>
          <p:cNvPr id="41" name="Text 32"/>
          <p:cNvSpPr txBox="1"/>
          <p:nvPr/>
        </p:nvSpPr>
        <p:spPr>
          <a:xfrm>
            <a:off x="7680960" y="2450592"/>
            <a:ext cx="301752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1200" dirty="0"/>
          </a:p>
        </p:txBody>
      </p:sp>
      <p:sp>
        <p:nvSpPr>
          <p:cNvPr id="42" name="Shape 33"/>
          <p:cNvSpPr/>
          <p:nvPr/>
        </p:nvSpPr>
        <p:spPr>
          <a:xfrm>
            <a:off x="9189720" y="2852928"/>
            <a:ext cx="0" cy="109728"/>
          </a:xfrm>
          <a:prstGeom prst="line">
            <a:avLst/>
          </a:prstGeom>
          <a:noFill/>
          <a:ln w="15875">
            <a:solidFill>
              <a:srgbClr val="7A8A9A"/>
            </a:solidFill>
            <a:prstDash val="solid"/>
            <a:tailEnd type="triangle"/>
          </a:ln>
        </p:spPr>
      </p:sp>
      <p:sp>
        <p:nvSpPr>
          <p:cNvPr id="43" name="Shape 34"/>
          <p:cNvSpPr/>
          <p:nvPr/>
        </p:nvSpPr>
        <p:spPr>
          <a:xfrm>
            <a:off x="7680960" y="2980944"/>
            <a:ext cx="3017520" cy="384048"/>
          </a:xfrm>
          <a:prstGeom prst="roundRect">
            <a:avLst>
              <a:gd name="adj" fmla="val 23810"/>
            </a:avLst>
          </a:prstGeom>
          <a:solidFill>
            <a:srgbClr val="FFFFFF"/>
          </a:solidFill>
          <a:ln w="15875">
            <a:solidFill>
              <a:srgbClr val="1F7FBF"/>
            </a:solidFill>
            <a:prstDash val="solid"/>
          </a:ln>
        </p:spPr>
      </p:sp>
      <p:sp>
        <p:nvSpPr>
          <p:cNvPr id="44" name="Text 35"/>
          <p:cNvSpPr txBox="1"/>
          <p:nvPr/>
        </p:nvSpPr>
        <p:spPr>
          <a:xfrm>
            <a:off x="7680960" y="2980944"/>
            <a:ext cx="301752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VALIDATION</a:t>
            </a:r>
            <a:endParaRPr lang="en-US" sz="1200" dirty="0"/>
          </a:p>
        </p:txBody>
      </p:sp>
      <p:sp>
        <p:nvSpPr>
          <p:cNvPr id="45" name="Shape 36"/>
          <p:cNvSpPr/>
          <p:nvPr/>
        </p:nvSpPr>
        <p:spPr>
          <a:xfrm>
            <a:off x="9189720" y="3383280"/>
            <a:ext cx="0" cy="109728"/>
          </a:xfrm>
          <a:prstGeom prst="line">
            <a:avLst/>
          </a:prstGeom>
          <a:noFill/>
          <a:ln w="15875">
            <a:solidFill>
              <a:srgbClr val="7A8A9A"/>
            </a:solidFill>
            <a:prstDash val="solid"/>
            <a:tailEnd type="triangle"/>
          </a:ln>
        </p:spPr>
      </p:sp>
      <p:sp>
        <p:nvSpPr>
          <p:cNvPr id="46" name="Shape 37"/>
          <p:cNvSpPr/>
          <p:nvPr/>
        </p:nvSpPr>
        <p:spPr>
          <a:xfrm>
            <a:off x="7680960" y="3511296"/>
            <a:ext cx="3017520" cy="384048"/>
          </a:xfrm>
          <a:prstGeom prst="roundRect">
            <a:avLst>
              <a:gd name="adj" fmla="val 23810"/>
            </a:avLst>
          </a:prstGeom>
          <a:solidFill>
            <a:srgbClr val="FFFFFF"/>
          </a:solidFill>
          <a:ln w="15875">
            <a:solidFill>
              <a:srgbClr val="1F7FBF"/>
            </a:solidFill>
            <a:prstDash val="solid"/>
          </a:ln>
        </p:spPr>
      </p:sp>
      <p:sp>
        <p:nvSpPr>
          <p:cNvPr id="47" name="Text 38"/>
          <p:cNvSpPr txBox="1"/>
          <p:nvPr/>
        </p:nvSpPr>
        <p:spPr>
          <a:xfrm>
            <a:off x="7680960" y="3511296"/>
            <a:ext cx="301752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TRANSFORMATION</a:t>
            </a:r>
            <a:endParaRPr lang="en-US" sz="1200" dirty="0"/>
          </a:p>
        </p:txBody>
      </p:sp>
      <p:sp>
        <p:nvSpPr>
          <p:cNvPr id="48" name="Shape 39"/>
          <p:cNvSpPr/>
          <p:nvPr/>
        </p:nvSpPr>
        <p:spPr>
          <a:xfrm>
            <a:off x="9189720" y="3913632"/>
            <a:ext cx="0" cy="109728"/>
          </a:xfrm>
          <a:prstGeom prst="line">
            <a:avLst/>
          </a:prstGeom>
          <a:noFill/>
          <a:ln w="15875">
            <a:solidFill>
              <a:srgbClr val="7A8A9A"/>
            </a:solidFill>
            <a:prstDash val="solid"/>
            <a:tailEnd type="triangle"/>
          </a:ln>
        </p:spPr>
      </p:sp>
      <p:sp>
        <p:nvSpPr>
          <p:cNvPr id="49" name="Shape 40"/>
          <p:cNvSpPr/>
          <p:nvPr/>
        </p:nvSpPr>
        <p:spPr>
          <a:xfrm>
            <a:off x="7680960" y="4041648"/>
            <a:ext cx="3017520" cy="384048"/>
          </a:xfrm>
          <a:prstGeom prst="roundRect">
            <a:avLst>
              <a:gd name="adj" fmla="val 23810"/>
            </a:avLst>
          </a:prstGeom>
          <a:solidFill>
            <a:srgbClr val="FFFFFF"/>
          </a:solidFill>
          <a:ln w="15875">
            <a:solidFill>
              <a:srgbClr val="22A6D6"/>
            </a:solidFill>
            <a:prstDash val="solid"/>
          </a:ln>
        </p:spPr>
      </p:sp>
      <p:sp>
        <p:nvSpPr>
          <p:cNvPr id="50" name="Text 41"/>
          <p:cNvSpPr txBox="1"/>
          <p:nvPr/>
        </p:nvSpPr>
        <p:spPr>
          <a:xfrm>
            <a:off x="7680960" y="4041648"/>
            <a:ext cx="301752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200" dirty="0"/>
          </a:p>
        </p:txBody>
      </p:sp>
      <p:sp>
        <p:nvSpPr>
          <p:cNvPr id="51" name="Shape 42"/>
          <p:cNvSpPr/>
          <p:nvPr/>
        </p:nvSpPr>
        <p:spPr>
          <a:xfrm>
            <a:off x="9189720" y="4443984"/>
            <a:ext cx="0" cy="109728"/>
          </a:xfrm>
          <a:prstGeom prst="line">
            <a:avLst/>
          </a:prstGeom>
          <a:noFill/>
          <a:ln w="15875">
            <a:solidFill>
              <a:srgbClr val="7A8A9A"/>
            </a:solidFill>
            <a:prstDash val="solid"/>
            <a:tailEnd type="triangle"/>
          </a:ln>
        </p:spPr>
      </p:sp>
      <p:sp>
        <p:nvSpPr>
          <p:cNvPr id="52" name="Shape 43"/>
          <p:cNvSpPr/>
          <p:nvPr/>
        </p:nvSpPr>
        <p:spPr>
          <a:xfrm>
            <a:off x="7680960" y="4572000"/>
            <a:ext cx="3017520" cy="384048"/>
          </a:xfrm>
          <a:prstGeom prst="roundRect">
            <a:avLst>
              <a:gd name="adj" fmla="val 23810"/>
            </a:avLst>
          </a:prstGeom>
          <a:solidFill>
            <a:srgbClr val="FFFFFF"/>
          </a:solidFill>
          <a:ln w="15875">
            <a:solidFill>
              <a:srgbClr val="22A6D6"/>
            </a:solidFill>
            <a:prstDash val="solid"/>
          </a:ln>
        </p:spPr>
      </p:sp>
      <p:sp>
        <p:nvSpPr>
          <p:cNvPr id="53" name="Text 44"/>
          <p:cNvSpPr txBox="1"/>
          <p:nvPr/>
        </p:nvSpPr>
        <p:spPr>
          <a:xfrm>
            <a:off x="7680960" y="4572000"/>
            <a:ext cx="301752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</a:t>
            </a:r>
            <a:endParaRPr lang="en-US" sz="1200" dirty="0"/>
          </a:p>
        </p:txBody>
      </p:sp>
      <p:sp>
        <p:nvSpPr>
          <p:cNvPr id="54" name="Shape 45"/>
          <p:cNvSpPr/>
          <p:nvPr/>
        </p:nvSpPr>
        <p:spPr>
          <a:xfrm>
            <a:off x="9189720" y="4974336"/>
            <a:ext cx="0" cy="109728"/>
          </a:xfrm>
          <a:prstGeom prst="line">
            <a:avLst/>
          </a:prstGeom>
          <a:noFill/>
          <a:ln w="15875">
            <a:solidFill>
              <a:srgbClr val="7A8A9A"/>
            </a:solidFill>
            <a:prstDash val="solid"/>
            <a:tailEnd type="triangle"/>
          </a:ln>
        </p:spPr>
      </p:sp>
      <p:sp>
        <p:nvSpPr>
          <p:cNvPr id="55" name="Shape 46"/>
          <p:cNvSpPr/>
          <p:nvPr/>
        </p:nvSpPr>
        <p:spPr>
          <a:xfrm>
            <a:off x="7680960" y="5102352"/>
            <a:ext cx="3017520" cy="384048"/>
          </a:xfrm>
          <a:prstGeom prst="roundRect">
            <a:avLst>
              <a:gd name="adj" fmla="val 23810"/>
            </a:avLst>
          </a:prstGeom>
          <a:solidFill>
            <a:srgbClr val="FFFFFF"/>
          </a:solidFill>
          <a:ln w="15875">
            <a:solidFill>
              <a:srgbClr val="1BA784"/>
            </a:solidFill>
            <a:prstDash val="solid"/>
          </a:ln>
        </p:spPr>
      </p:sp>
      <p:sp>
        <p:nvSpPr>
          <p:cNvPr id="56" name="Text 47"/>
          <p:cNvSpPr txBox="1"/>
          <p:nvPr/>
        </p:nvSpPr>
        <p:spPr>
          <a:xfrm>
            <a:off x="7680960" y="5102352"/>
            <a:ext cx="301752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DASHBOARD</a:t>
            </a:r>
            <a:endParaRPr lang="en-US" sz="1200" dirty="0"/>
          </a:p>
        </p:txBody>
      </p:sp>
      <p:sp>
        <p:nvSpPr>
          <p:cNvPr id="57" name="Shape 48"/>
          <p:cNvSpPr/>
          <p:nvPr/>
        </p:nvSpPr>
        <p:spPr>
          <a:xfrm>
            <a:off x="548640" y="5943600"/>
            <a:ext cx="11091672" cy="411480"/>
          </a:xfrm>
          <a:prstGeom prst="roundRect">
            <a:avLst>
              <a:gd name="adj" fmla="val 22222"/>
            </a:avLst>
          </a:prstGeom>
          <a:solidFill>
            <a:srgbClr val="E8F3FA"/>
          </a:solidFill>
          <a:ln w="12700">
            <a:solidFill>
              <a:srgbClr val="E8F3FA"/>
            </a:solidFill>
            <a:prstDash val="solid"/>
          </a:ln>
        </p:spPr>
      </p:sp>
      <p:sp>
        <p:nvSpPr>
          <p:cNvPr id="58" name="Text 49"/>
          <p:cNvSpPr txBox="1"/>
          <p:nvPr/>
        </p:nvSpPr>
        <p:spPr>
          <a:xfrm>
            <a:off x="731520" y="5943600"/>
            <a:ext cx="10725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7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explanation:  </a:t>
            </a:r>
            <a:pPr indent="0" marL="0">
              <a:buNone/>
            </a:pPr>
            <a:r>
              <a:rPr lang="en-US" sz="1300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take a large data file and turn it into something anyone can explore with a few clicks.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F7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|  BACKGROUND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COVID-19 &amp; the data behind the project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COVID-19 Data Visualization Dashboard  |  BCA 5th Semester Minor Project  |  Sigma University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091672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512064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E4EC"/>
            </a:solidFill>
            <a:prstDash val="solid"/>
          </a:ln>
          <a:effectLst>
            <a:outerShdw sx="100000" sy="100000" kx="0" ky="0" algn="bl" rotWithShape="0" blurRad="101600" dist="25400" dir="5400000">
              <a:srgbClr val="0F2A4A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77240" y="1554480"/>
            <a:ext cx="548640" cy="548640"/>
          </a:xfrm>
          <a:prstGeom prst="ellipse">
            <a:avLst/>
          </a:prstGeom>
          <a:solidFill>
            <a:srgbClr val="E8F3FA"/>
          </a:solidFill>
          <a:ln w="12700">
            <a:solidFill>
              <a:srgbClr val="E8F3FA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691640"/>
            <a:ext cx="274320" cy="27432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508760" y="15544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COVID-19?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1508760" y="1920240"/>
            <a:ext cx="3977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infectious disease caused by the SARS-CoV-2 virus. The pandemic produced large amounts of data: cases, deaths, recoveries and vaccination doses.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34290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F7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DATA IS USEFUL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48640" y="3794760"/>
            <a:ext cx="2514600" cy="548640"/>
          </a:xfrm>
          <a:prstGeom prst="roundRect">
            <a:avLst>
              <a:gd name="adj" fmla="val 13333"/>
            </a:avLst>
          </a:prstGeom>
          <a:solidFill>
            <a:srgbClr val="F4F8FB"/>
          </a:solidFill>
          <a:ln w="9525">
            <a:solidFill>
              <a:srgbClr val="D9E4EC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58368" y="379476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how the pandemic spread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3154680" y="3794760"/>
            <a:ext cx="2514600" cy="548640"/>
          </a:xfrm>
          <a:prstGeom prst="roundRect">
            <a:avLst>
              <a:gd name="adj" fmla="val 13333"/>
            </a:avLst>
          </a:prstGeom>
          <a:solidFill>
            <a:srgbClr val="F4F8FB"/>
          </a:solidFill>
          <a:ln w="9525">
            <a:solidFill>
              <a:srgbClr val="D9E4EC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3264408" y="379476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regions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548640" y="4453128"/>
            <a:ext cx="2514600" cy="548640"/>
          </a:xfrm>
          <a:prstGeom prst="roundRect">
            <a:avLst>
              <a:gd name="adj" fmla="val 13333"/>
            </a:avLst>
          </a:prstGeom>
          <a:solidFill>
            <a:srgbClr val="F4F8FB"/>
          </a:solidFill>
          <a:ln w="9525">
            <a:solidFill>
              <a:srgbClr val="D9E4EC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58368" y="4453128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change over time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3154680" y="4453128"/>
            <a:ext cx="2514600" cy="548640"/>
          </a:xfrm>
          <a:prstGeom prst="roundRect">
            <a:avLst>
              <a:gd name="adj" fmla="val 13333"/>
            </a:avLst>
          </a:prstGeom>
          <a:solidFill>
            <a:srgbClr val="F4F8FB"/>
          </a:solidFill>
          <a:ln w="9525">
            <a:solidFill>
              <a:srgbClr val="D9E4EC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3264408" y="4453128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outcomes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548640" y="5111496"/>
            <a:ext cx="2514600" cy="548640"/>
          </a:xfrm>
          <a:prstGeom prst="roundRect">
            <a:avLst>
              <a:gd name="adj" fmla="val 13333"/>
            </a:avLst>
          </a:prstGeom>
          <a:solidFill>
            <a:srgbClr val="F4F8FB"/>
          </a:solidFill>
          <a:ln w="9525">
            <a:solidFill>
              <a:srgbClr val="D9E4EC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58368" y="5111496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Examine vaccination trends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3154680" y="5111496"/>
            <a:ext cx="2514600" cy="548640"/>
          </a:xfrm>
          <a:prstGeom prst="roundRect">
            <a:avLst>
              <a:gd name="adj" fmla="val 13333"/>
            </a:avLst>
          </a:prstGeom>
          <a:solidFill>
            <a:srgbClr val="F4F8FB"/>
          </a:solidFill>
          <a:ln w="9525">
            <a:solidFill>
              <a:srgbClr val="D9E4EC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3264408" y="5111496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 analytics &amp; visualization</a:t>
            </a:r>
            <a:endParaRPr lang="en-US" sz="1150" dirty="0"/>
          </a:p>
        </p:txBody>
      </p:sp>
      <p:sp>
        <p:nvSpPr>
          <p:cNvPr id="24" name="Text 21"/>
          <p:cNvSpPr txBox="1"/>
          <p:nvPr/>
        </p:nvSpPr>
        <p:spPr>
          <a:xfrm>
            <a:off x="6263640" y="1371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F7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 DATASET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6263640" y="1691640"/>
            <a:ext cx="128016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E4EC"/>
            </a:solidFill>
            <a:prstDash val="solid"/>
          </a:ln>
          <a:effectLst>
            <a:outerShdw sx="100000" sy="100000" kx="0" ky="0" algn="bl" rotWithShape="0" blurRad="101600" dist="25400" dir="5400000">
              <a:srgbClr val="0F2A4A">
                <a:alpha val="8000"/>
              </a:srgbClr>
            </a:outerShdw>
          </a:effectLst>
        </p:spPr>
      </p:sp>
      <p:sp>
        <p:nvSpPr>
          <p:cNvPr id="26" name="Text 23"/>
          <p:cNvSpPr txBox="1"/>
          <p:nvPr/>
        </p:nvSpPr>
        <p:spPr>
          <a:xfrm>
            <a:off x="6263640" y="17830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7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</a:t>
            </a:r>
            <a:endParaRPr lang="en-US" sz="2000" dirty="0"/>
          </a:p>
        </p:txBody>
      </p:sp>
      <p:sp>
        <p:nvSpPr>
          <p:cNvPr id="27" name="Text 24"/>
          <p:cNvSpPr txBox="1"/>
          <p:nvPr/>
        </p:nvSpPr>
        <p:spPr>
          <a:xfrm>
            <a:off x="6263640" y="22860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7635240" y="1691640"/>
            <a:ext cx="128016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E4EC"/>
            </a:solidFill>
            <a:prstDash val="solid"/>
          </a:ln>
          <a:effectLst>
            <a:outerShdw sx="100000" sy="100000" kx="0" ky="0" algn="bl" rotWithShape="0" blurRad="101600" dist="25400" dir="5400000">
              <a:srgbClr val="0F2A4A">
                <a:alpha val="8000"/>
              </a:srgbClr>
            </a:outerShdw>
          </a:effectLst>
        </p:spPr>
      </p:sp>
      <p:sp>
        <p:nvSpPr>
          <p:cNvPr id="29" name="Text 26"/>
          <p:cNvSpPr txBox="1"/>
          <p:nvPr/>
        </p:nvSpPr>
        <p:spPr>
          <a:xfrm>
            <a:off x="7635240" y="17830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7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2000" dirty="0"/>
          </a:p>
        </p:txBody>
      </p:sp>
      <p:sp>
        <p:nvSpPr>
          <p:cNvPr id="30" name="Text 27"/>
          <p:cNvSpPr txBox="1"/>
          <p:nvPr/>
        </p:nvSpPr>
        <p:spPr>
          <a:xfrm>
            <a:off x="7635240" y="22860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States / UTs</a:t>
            </a:r>
            <a:endParaRPr lang="en-US" sz="1050" dirty="0"/>
          </a:p>
        </p:txBody>
      </p:sp>
      <p:sp>
        <p:nvSpPr>
          <p:cNvPr id="31" name="Shape 28"/>
          <p:cNvSpPr/>
          <p:nvPr/>
        </p:nvSpPr>
        <p:spPr>
          <a:xfrm>
            <a:off x="9006840" y="1691640"/>
            <a:ext cx="128016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E4EC"/>
            </a:solidFill>
            <a:prstDash val="solid"/>
          </a:ln>
          <a:effectLst>
            <a:outerShdw sx="100000" sy="100000" kx="0" ky="0" algn="bl" rotWithShape="0" blurRad="101600" dist="25400" dir="5400000">
              <a:srgbClr val="0F2A4A">
                <a:alpha val="8000"/>
              </a:srgbClr>
            </a:outerShdw>
          </a:effectLst>
        </p:spPr>
      </p:sp>
      <p:sp>
        <p:nvSpPr>
          <p:cNvPr id="32" name="Text 29"/>
          <p:cNvSpPr txBox="1"/>
          <p:nvPr/>
        </p:nvSpPr>
        <p:spPr>
          <a:xfrm>
            <a:off x="9006840" y="17830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7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2020-22</a:t>
            </a:r>
            <a:endParaRPr lang="en-US" sz="2000" dirty="0"/>
          </a:p>
        </p:txBody>
      </p:sp>
      <p:sp>
        <p:nvSpPr>
          <p:cNvPr id="33" name="Text 30"/>
          <p:cNvSpPr txBox="1"/>
          <p:nvPr/>
        </p:nvSpPr>
        <p:spPr>
          <a:xfrm>
            <a:off x="9006840" y="22860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</a:t>
            </a:r>
            <a:endParaRPr lang="en-US" sz="1050" dirty="0"/>
          </a:p>
        </p:txBody>
      </p:sp>
      <p:sp>
        <p:nvSpPr>
          <p:cNvPr id="34" name="Shape 31"/>
          <p:cNvSpPr/>
          <p:nvPr/>
        </p:nvSpPr>
        <p:spPr>
          <a:xfrm>
            <a:off x="10378440" y="1691640"/>
            <a:ext cx="128016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E4EC"/>
            </a:solidFill>
            <a:prstDash val="solid"/>
          </a:ln>
          <a:effectLst>
            <a:outerShdw sx="100000" sy="100000" kx="0" ky="0" algn="bl" rotWithShape="0" blurRad="101600" dist="25400" dir="5400000">
              <a:srgbClr val="0F2A4A">
                <a:alpha val="8000"/>
              </a:srgbClr>
            </a:outerShdw>
          </a:effectLst>
        </p:spPr>
      </p:sp>
      <p:sp>
        <p:nvSpPr>
          <p:cNvPr id="35" name="Text 32"/>
          <p:cNvSpPr txBox="1"/>
          <p:nvPr/>
        </p:nvSpPr>
        <p:spPr>
          <a:xfrm>
            <a:off x="10378440" y="17830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7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108</a:t>
            </a:r>
            <a:endParaRPr lang="en-US" sz="2000" dirty="0"/>
          </a:p>
        </p:txBody>
      </p:sp>
      <p:sp>
        <p:nvSpPr>
          <p:cNvPr id="36" name="Text 33"/>
          <p:cNvSpPr txBox="1"/>
          <p:nvPr/>
        </p:nvSpPr>
        <p:spPr>
          <a:xfrm>
            <a:off x="10378440" y="22860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</a:t>
            </a:r>
            <a:endParaRPr lang="en-US" sz="1050" dirty="0"/>
          </a:p>
        </p:txBody>
      </p:sp>
      <p:sp>
        <p:nvSpPr>
          <p:cNvPr id="37" name="Shape 34"/>
          <p:cNvSpPr/>
          <p:nvPr/>
        </p:nvSpPr>
        <p:spPr>
          <a:xfrm>
            <a:off x="6190488" y="2807208"/>
            <a:ext cx="5522976" cy="1687220"/>
          </a:xfrm>
          <a:prstGeom prst="roundRect">
            <a:avLst>
              <a:gd name="adj" fmla="val 5420"/>
            </a:avLst>
          </a:prstGeom>
          <a:solidFill>
            <a:srgbClr val="FFFFFF"/>
          </a:solidFill>
          <a:ln w="9525">
            <a:solidFill>
              <a:srgbClr val="D9E4EC"/>
            </a:solidFill>
            <a:prstDash val="solid"/>
          </a:ln>
          <a:effectLst>
            <a:outerShdw sx="100000" sy="100000" kx="0" ky="0" algn="bl" rotWithShape="0" blurRad="101600" dist="25400" dir="5400000">
              <a:srgbClr val="0F2A4A">
                <a:alpha val="8000"/>
              </a:srgbClr>
            </a:outerShdw>
          </a:effectLst>
        </p:spPr>
      </p:sp>
      <p:pic>
        <p:nvPicPr>
          <p:cNvPr id="38" name="Image 1" descr="/home/claude/img/tablecro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2880360"/>
            <a:ext cx="5376672" cy="1540916"/>
          </a:xfrm>
          <a:prstGeom prst="rect">
            <a:avLst/>
          </a:prstGeom>
        </p:spPr>
      </p:pic>
      <p:sp>
        <p:nvSpPr>
          <p:cNvPr id="39" name="Text 35"/>
          <p:cNvSpPr txBox="1"/>
          <p:nvPr/>
        </p:nvSpPr>
        <p:spPr>
          <a:xfrm>
            <a:off x="6263640" y="5074920"/>
            <a:ext cx="5376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7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rows from the dashboard data grid (with derived columns). Metrics: cases, deaths, recoveries, vaccination doses, year, state/UT.</a:t>
            </a:r>
            <a:endParaRPr lang="en-US" sz="1050" dirty="0"/>
          </a:p>
        </p:txBody>
      </p:sp>
      <p:sp>
        <p:nvSpPr>
          <p:cNvPr id="40" name="Text 36"/>
          <p:cNvSpPr txBox="1"/>
          <p:nvPr/>
        </p:nvSpPr>
        <p:spPr>
          <a:xfrm>
            <a:off x="6263640" y="5486400"/>
            <a:ext cx="5376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4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Historical COVID-19 state-wise dataset used for academic analysis.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F7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|  PROBLEM STATEMENT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 is hard to read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COVID-19 Data Visualization Dashboard  |  BCA 5th Semester Minor Project  |  Sigma University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091672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4206240" cy="3291840"/>
          </a:xfrm>
          <a:prstGeom prst="roundRect">
            <a:avLst>
              <a:gd name="adj" fmla="val 3333"/>
            </a:avLst>
          </a:prstGeom>
          <a:solidFill>
            <a:srgbClr val="F4F8FB"/>
          </a:solidFill>
          <a:ln w="9525">
            <a:solidFill>
              <a:srgbClr val="D9E4EC"/>
            </a:solidFill>
            <a:prstDash val="solid"/>
          </a:ln>
          <a:effectLst>
            <a:outerShdw sx="100000" sy="100000" kx="0" ky="0" algn="bl" rotWithShape="0" blurRad="101600" dist="25400" dir="5400000">
              <a:srgbClr val="0F2A4A">
                <a:alpha val="8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777240" y="1508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CSV / XLSX</a:t>
            </a:r>
            <a:endParaRPr lang="en-US" sz="1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874520"/>
          <a:ext cx="374904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640080"/>
                <a:gridCol w="822960"/>
                <a:gridCol w="731520"/>
                <a:gridCol w="64008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4A5A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A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4A5A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A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4A5A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A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4A5A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Deaths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A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4A5A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Recov.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AF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9B6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....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9B6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....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9B6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........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9B6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......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9B6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......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9B6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....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9B6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....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9B6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........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9B6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......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9B6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......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9B6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....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9B6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....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9B6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........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9B6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......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9B6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......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9B6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....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9B6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....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9B6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........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9B6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......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9B6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......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9B6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....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9B6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....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9B6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........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9B6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......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9B6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......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9B6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....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9B6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....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9B6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........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9B6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......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9B6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......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9B6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....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9B6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....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9B6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........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9B6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......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9B6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......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9B6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....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9B6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....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9B6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........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9B6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......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9B6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......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1371600" y="4251960"/>
            <a:ext cx="2560320" cy="320040"/>
          </a:xfrm>
          <a:prstGeom prst="roundRect">
            <a:avLst>
              <a:gd name="adj" fmla="val 28571"/>
            </a:avLst>
          </a:prstGeom>
          <a:solidFill>
            <a:srgbClr val="FDE9EE"/>
          </a:solidFill>
          <a:ln w="12700">
            <a:solidFill>
              <a:srgbClr val="FDE9E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371600" y="42519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5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 to interpret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892040" y="3017520"/>
            <a:ext cx="822960" cy="0"/>
          </a:xfrm>
          <a:prstGeom prst="line">
            <a:avLst/>
          </a:prstGeom>
          <a:noFill/>
          <a:ln w="38100">
            <a:solidFill>
              <a:srgbClr val="1F7FBF"/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5916168" y="1298448"/>
            <a:ext cx="5815584" cy="2410631"/>
          </a:xfrm>
          <a:prstGeom prst="roundRect">
            <a:avLst>
              <a:gd name="adj" fmla="val 3793"/>
            </a:avLst>
          </a:prstGeom>
          <a:solidFill>
            <a:srgbClr val="FFFFFF"/>
          </a:solidFill>
          <a:ln w="9525">
            <a:solidFill>
              <a:srgbClr val="D9E4EC"/>
            </a:solidFill>
            <a:prstDash val="solid"/>
          </a:ln>
          <a:effectLst>
            <a:outerShdw sx="100000" sy="100000" kx="0" ky="0" algn="bl" rotWithShape="0" blurRad="101600" dist="25400" dir="5400000">
              <a:srgbClr val="0F2A4A">
                <a:alpha val="8000"/>
              </a:srgbClr>
            </a:outerShdw>
          </a:effectLst>
        </p:spPr>
      </p:sp>
      <p:pic>
        <p:nvPicPr>
          <p:cNvPr id="13" name="Image 0" descr="/home/claude/img/kp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0" y="1371600"/>
            <a:ext cx="5669280" cy="2264327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7498080" y="4251960"/>
            <a:ext cx="2743200" cy="320040"/>
          </a:xfrm>
          <a:prstGeom prst="roundRect">
            <a:avLst>
              <a:gd name="adj" fmla="val 28571"/>
            </a:avLst>
          </a:prstGeom>
          <a:solidFill>
            <a:srgbClr val="E3F6F0"/>
          </a:solidFill>
          <a:ln w="12700">
            <a:solidFill>
              <a:srgbClr val="E3F6F0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7315200" y="42519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A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dashboard: easy to understand</a:t>
            </a:r>
            <a:endParaRPr lang="en-US" sz="1200" dirty="0"/>
          </a:p>
        </p:txBody>
      </p:sp>
      <p:sp>
        <p:nvSpPr>
          <p:cNvPr id="16" name="Text 12"/>
          <p:cNvSpPr txBox="1"/>
          <p:nvPr/>
        </p:nvSpPr>
        <p:spPr>
          <a:xfrm>
            <a:off x="548640" y="4892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E5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 </a:t>
            </a:r>
            <a:pPr indent="0" marL="0">
              <a:buNone/>
            </a:pPr>
            <a:r>
              <a:rPr lang="en-US" sz="1250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number of records</a:t>
            </a:r>
            <a:endParaRPr lang="en-US" sz="1250" dirty="0"/>
          </a:p>
        </p:txBody>
      </p:sp>
      <p:sp>
        <p:nvSpPr>
          <p:cNvPr id="17" name="Text 13"/>
          <p:cNvSpPr txBox="1"/>
          <p:nvPr/>
        </p:nvSpPr>
        <p:spPr>
          <a:xfrm>
            <a:off x="4297680" y="4892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E5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 </a:t>
            </a:r>
            <a:pPr indent="0" marL="0">
              <a:buNone/>
            </a:pPr>
            <a:r>
              <a:rPr lang="en-US" sz="1250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Trends are hard to spot</a:t>
            </a:r>
            <a:endParaRPr lang="en-US" sz="1250" dirty="0"/>
          </a:p>
        </p:txBody>
      </p:sp>
      <p:sp>
        <p:nvSpPr>
          <p:cNvPr id="18" name="Text 14"/>
          <p:cNvSpPr txBox="1"/>
          <p:nvPr/>
        </p:nvSpPr>
        <p:spPr>
          <a:xfrm>
            <a:off x="8046720" y="4892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E5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 </a:t>
            </a:r>
            <a:pPr indent="0" marL="0">
              <a:buNone/>
            </a:pPr>
            <a:r>
              <a:rPr lang="en-US" sz="1250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comparison needs manual work</a:t>
            </a:r>
            <a:endParaRPr lang="en-US" sz="1250" dirty="0"/>
          </a:p>
        </p:txBody>
      </p:sp>
      <p:sp>
        <p:nvSpPr>
          <p:cNvPr id="19" name="Text 15"/>
          <p:cNvSpPr txBox="1"/>
          <p:nvPr/>
        </p:nvSpPr>
        <p:spPr>
          <a:xfrm>
            <a:off x="548640" y="53949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E5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 </a:t>
            </a:r>
            <a:pPr indent="0" marL="0">
              <a:buNone/>
            </a:pPr>
            <a:r>
              <a:rPr lang="en-US" sz="1250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differences are invisible</a:t>
            </a:r>
            <a:endParaRPr lang="en-US" sz="1250" dirty="0"/>
          </a:p>
        </p:txBody>
      </p:sp>
      <p:sp>
        <p:nvSpPr>
          <p:cNvPr id="20" name="Text 16"/>
          <p:cNvSpPr txBox="1"/>
          <p:nvPr/>
        </p:nvSpPr>
        <p:spPr>
          <a:xfrm>
            <a:off x="4297680" y="53949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E5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 </a:t>
            </a:r>
            <a:pPr indent="0" marL="0">
              <a:buNone/>
            </a:pPr>
            <a:r>
              <a:rPr lang="en-US" sz="1250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/ Excel is not user-friendly</a:t>
            </a:r>
            <a:endParaRPr lang="en-US" sz="1250" dirty="0"/>
          </a:p>
        </p:txBody>
      </p:sp>
      <p:sp>
        <p:nvSpPr>
          <p:cNvPr id="21" name="Text 17"/>
          <p:cNvSpPr txBox="1"/>
          <p:nvPr/>
        </p:nvSpPr>
        <p:spPr>
          <a:xfrm>
            <a:off x="8046720" y="53949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E5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 </a:t>
            </a:r>
            <a:pPr indent="0" marL="0">
              <a:buNone/>
            </a:pPr>
            <a:r>
              <a:rPr lang="en-US" sz="1250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stay hidden</a:t>
            </a:r>
            <a:endParaRPr lang="en-US" sz="1250" dirty="0"/>
          </a:p>
        </p:txBody>
      </p:sp>
      <p:sp>
        <p:nvSpPr>
          <p:cNvPr id="22" name="Shape 18"/>
          <p:cNvSpPr/>
          <p:nvPr/>
        </p:nvSpPr>
        <p:spPr>
          <a:xfrm>
            <a:off x="548640" y="5943600"/>
            <a:ext cx="11091672" cy="411480"/>
          </a:xfrm>
          <a:prstGeom prst="roundRect">
            <a:avLst>
              <a:gd name="adj" fmla="val 22222"/>
            </a:avLst>
          </a:prstGeom>
          <a:solidFill>
            <a:srgbClr val="E8F3FA"/>
          </a:solidFill>
          <a:ln w="12700">
            <a:solidFill>
              <a:srgbClr val="E8F3FA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731520" y="5943600"/>
            <a:ext cx="10725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7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explanation:  </a:t>
            </a:r>
            <a:pPr indent="0" marL="0">
              <a:buNone/>
            </a:pPr>
            <a:r>
              <a:rPr lang="en-US" sz="1300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 turns a big table of numbers into pictures, maps and comparisons.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F7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|  OBJECTIVES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COVID-19 Data Visualization Dashboard  |  BCA 5th Semester Minor Project  |  Sigma University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091672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361188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9525">
            <a:solidFill>
              <a:srgbClr val="D9E4EC"/>
            </a:solidFill>
            <a:prstDash val="solid"/>
          </a:ln>
          <a:effectLst>
            <a:outerShdw sx="100000" sy="100000" kx="0" ky="0" algn="bl" rotWithShape="0" blurRad="101600" dist="25400" dir="5400000">
              <a:srgbClr val="0F2A4A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77240" y="1828800"/>
            <a:ext cx="594360" cy="594360"/>
          </a:xfrm>
          <a:prstGeom prst="ellipse">
            <a:avLst/>
          </a:prstGeom>
          <a:solidFill>
            <a:srgbClr val="E8F3FA"/>
          </a:solidFill>
          <a:ln w="12700">
            <a:solidFill>
              <a:srgbClr val="E8F3FA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5830" y="1977390"/>
            <a:ext cx="297180" cy="29718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600200" y="16459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2A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1600200" y="1920240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interactive COVID-19 dashboard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4297680" y="1463040"/>
            <a:ext cx="361188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9525">
            <a:solidFill>
              <a:srgbClr val="D9E4EC"/>
            </a:solidFill>
            <a:prstDash val="solid"/>
          </a:ln>
          <a:effectLst>
            <a:outerShdw sx="100000" sy="100000" kx="0" ky="0" algn="bl" rotWithShape="0" blurRad="101600" dist="25400" dir="5400000">
              <a:srgbClr val="0F2A4A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526280" y="1828800"/>
            <a:ext cx="594360" cy="594360"/>
          </a:xfrm>
          <a:prstGeom prst="ellipse">
            <a:avLst/>
          </a:prstGeom>
          <a:solidFill>
            <a:srgbClr val="E8F3FA"/>
          </a:solidFill>
          <a:ln w="12700">
            <a:solidFill>
              <a:srgbClr val="E8F3FA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4870" y="1977390"/>
            <a:ext cx="297180" cy="29718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349240" y="16459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2A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5" name="Text 11"/>
          <p:cNvSpPr txBox="1"/>
          <p:nvPr/>
        </p:nvSpPr>
        <p:spPr>
          <a:xfrm>
            <a:off x="5349240" y="1920240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state-wise pandemic data</a:t>
            </a:r>
            <a:endParaRPr lang="en-US" sz="1500" dirty="0"/>
          </a:p>
        </p:txBody>
      </p:sp>
      <p:sp>
        <p:nvSpPr>
          <p:cNvPr id="16" name="Shape 12"/>
          <p:cNvSpPr/>
          <p:nvPr/>
        </p:nvSpPr>
        <p:spPr>
          <a:xfrm>
            <a:off x="8046720" y="1463040"/>
            <a:ext cx="361188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9525">
            <a:solidFill>
              <a:srgbClr val="D9E4EC"/>
            </a:solidFill>
            <a:prstDash val="solid"/>
          </a:ln>
          <a:effectLst>
            <a:outerShdw sx="100000" sy="100000" kx="0" ky="0" algn="bl" rotWithShape="0" blurRad="101600" dist="25400" dir="5400000">
              <a:srgbClr val="0F2A4A">
                <a:alpha val="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275320" y="1828800"/>
            <a:ext cx="594360" cy="594360"/>
          </a:xfrm>
          <a:prstGeom prst="ellipse">
            <a:avLst/>
          </a:prstGeom>
          <a:solidFill>
            <a:srgbClr val="E8F3FA"/>
          </a:solidFill>
          <a:ln w="12700">
            <a:solidFill>
              <a:srgbClr val="E8F3FA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3910" y="1977390"/>
            <a:ext cx="297180" cy="29718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9098280" y="16459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2A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20" name="Text 15"/>
          <p:cNvSpPr txBox="1"/>
          <p:nvPr/>
        </p:nvSpPr>
        <p:spPr>
          <a:xfrm>
            <a:off x="9098280" y="1920240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year-wise statistics</a:t>
            </a:r>
            <a:endParaRPr lang="en-US" sz="1500" dirty="0"/>
          </a:p>
        </p:txBody>
      </p:sp>
      <p:sp>
        <p:nvSpPr>
          <p:cNvPr id="21" name="Shape 16"/>
          <p:cNvSpPr/>
          <p:nvPr/>
        </p:nvSpPr>
        <p:spPr>
          <a:xfrm>
            <a:off x="548640" y="2971800"/>
            <a:ext cx="361188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9525">
            <a:solidFill>
              <a:srgbClr val="D9E4EC"/>
            </a:solidFill>
            <a:prstDash val="solid"/>
          </a:ln>
          <a:effectLst>
            <a:outerShdw sx="100000" sy="100000" kx="0" ky="0" algn="bl" rotWithShape="0" blurRad="101600" dist="25400" dir="5400000">
              <a:srgbClr val="0F2A4A">
                <a:alpha val="8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777240" y="3337560"/>
            <a:ext cx="594360" cy="594360"/>
          </a:xfrm>
          <a:prstGeom prst="ellipse">
            <a:avLst/>
          </a:prstGeom>
          <a:solidFill>
            <a:srgbClr val="E8F3FA"/>
          </a:solidFill>
          <a:ln w="12700">
            <a:solidFill>
              <a:srgbClr val="E8F3FA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5830" y="3486150"/>
            <a:ext cx="297180" cy="29718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600200" y="31546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2A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5" name="Text 19"/>
          <p:cNvSpPr txBox="1"/>
          <p:nvPr/>
        </p:nvSpPr>
        <p:spPr>
          <a:xfrm>
            <a:off x="1600200" y="3429000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 vaccination data</a:t>
            </a:r>
            <a:endParaRPr lang="en-US" sz="1500" dirty="0"/>
          </a:p>
        </p:txBody>
      </p:sp>
      <p:sp>
        <p:nvSpPr>
          <p:cNvPr id="26" name="Shape 20"/>
          <p:cNvSpPr/>
          <p:nvPr/>
        </p:nvSpPr>
        <p:spPr>
          <a:xfrm>
            <a:off x="4297680" y="2971800"/>
            <a:ext cx="361188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9525">
            <a:solidFill>
              <a:srgbClr val="D9E4EC"/>
            </a:solidFill>
            <a:prstDash val="solid"/>
          </a:ln>
          <a:effectLst>
            <a:outerShdw sx="100000" sy="100000" kx="0" ky="0" algn="bl" rotWithShape="0" blurRad="101600" dist="25400" dir="5400000">
              <a:srgbClr val="0F2A4A">
                <a:alpha val="8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4526280" y="3337560"/>
            <a:ext cx="594360" cy="594360"/>
          </a:xfrm>
          <a:prstGeom prst="ellipse">
            <a:avLst/>
          </a:prstGeom>
          <a:solidFill>
            <a:srgbClr val="E8F3FA"/>
          </a:solidFill>
          <a:ln w="12700">
            <a:solidFill>
              <a:srgbClr val="E8F3FA"/>
            </a:solidFill>
            <a:prstDash val="solid"/>
          </a:ln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74870" y="3486150"/>
            <a:ext cx="297180" cy="297180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5349240" y="31546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2A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30" name="Text 23"/>
          <p:cNvSpPr txBox="1"/>
          <p:nvPr/>
        </p:nvSpPr>
        <p:spPr>
          <a:xfrm>
            <a:off x="5349240" y="3429000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and validate raw datasets</a:t>
            </a:r>
            <a:endParaRPr lang="en-US" sz="1500" dirty="0"/>
          </a:p>
        </p:txBody>
      </p:sp>
      <p:sp>
        <p:nvSpPr>
          <p:cNvPr id="31" name="Shape 24"/>
          <p:cNvSpPr/>
          <p:nvPr/>
        </p:nvSpPr>
        <p:spPr>
          <a:xfrm>
            <a:off x="8046720" y="2971800"/>
            <a:ext cx="361188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9525">
            <a:solidFill>
              <a:srgbClr val="D9E4EC"/>
            </a:solidFill>
            <a:prstDash val="solid"/>
          </a:ln>
          <a:effectLst>
            <a:outerShdw sx="100000" sy="100000" kx="0" ky="0" algn="bl" rotWithShape="0" blurRad="101600" dist="25400" dir="5400000">
              <a:srgbClr val="0F2A4A">
                <a:alpha val="8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8275320" y="3337560"/>
            <a:ext cx="594360" cy="594360"/>
          </a:xfrm>
          <a:prstGeom prst="ellipse">
            <a:avLst/>
          </a:prstGeom>
          <a:solidFill>
            <a:srgbClr val="E8F3FA"/>
          </a:solidFill>
          <a:ln w="12700">
            <a:solidFill>
              <a:srgbClr val="E8F3FA"/>
            </a:solidFill>
            <a:prstDash val="solid"/>
          </a:ln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23910" y="3486150"/>
            <a:ext cx="297180" cy="297180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9098280" y="31546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2A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35" name="Text 27"/>
          <p:cNvSpPr txBox="1"/>
          <p:nvPr/>
        </p:nvSpPr>
        <p:spPr>
          <a:xfrm>
            <a:off x="9098280" y="3429000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meaningful insights</a:t>
            </a:r>
            <a:endParaRPr lang="en-US" sz="1500" dirty="0"/>
          </a:p>
        </p:txBody>
      </p:sp>
      <p:sp>
        <p:nvSpPr>
          <p:cNvPr id="36" name="Shape 28"/>
          <p:cNvSpPr/>
          <p:nvPr/>
        </p:nvSpPr>
        <p:spPr>
          <a:xfrm>
            <a:off x="548640" y="4480560"/>
            <a:ext cx="361188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9525">
            <a:solidFill>
              <a:srgbClr val="D9E4EC"/>
            </a:solidFill>
            <a:prstDash val="solid"/>
          </a:ln>
          <a:effectLst>
            <a:outerShdw sx="100000" sy="100000" kx="0" ky="0" algn="bl" rotWithShape="0" blurRad="101600" dist="25400" dir="5400000">
              <a:srgbClr val="0F2A4A">
                <a:alpha val="8000"/>
              </a:srgbClr>
            </a:outerShdw>
          </a:effectLst>
        </p:spPr>
      </p:sp>
      <p:sp>
        <p:nvSpPr>
          <p:cNvPr id="37" name="Shape 29"/>
          <p:cNvSpPr/>
          <p:nvPr/>
        </p:nvSpPr>
        <p:spPr>
          <a:xfrm>
            <a:off x="777240" y="4846320"/>
            <a:ext cx="594360" cy="594360"/>
          </a:xfrm>
          <a:prstGeom prst="ellipse">
            <a:avLst/>
          </a:prstGeom>
          <a:solidFill>
            <a:srgbClr val="E8F3FA"/>
          </a:solidFill>
          <a:ln w="12700">
            <a:solidFill>
              <a:srgbClr val="E8F3FA"/>
            </a:solidFill>
            <a:prstDash val="solid"/>
          </a:ln>
        </p:spPr>
      </p:sp>
      <p:pic>
        <p:nvPicPr>
          <p:cNvPr id="3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5830" y="4994910"/>
            <a:ext cx="297180" cy="297180"/>
          </a:xfrm>
          <a:prstGeom prst="rect">
            <a:avLst/>
          </a:prstGeom>
        </p:spPr>
      </p:pic>
      <p:sp>
        <p:nvSpPr>
          <p:cNvPr id="39" name="Text 30"/>
          <p:cNvSpPr txBox="1"/>
          <p:nvPr/>
        </p:nvSpPr>
        <p:spPr>
          <a:xfrm>
            <a:off x="1600200" y="46634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2A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40" name="Text 31"/>
          <p:cNvSpPr txBox="1"/>
          <p:nvPr/>
        </p:nvSpPr>
        <p:spPr>
          <a:xfrm>
            <a:off x="1600200" y="4937760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geographic visualization</a:t>
            </a:r>
            <a:endParaRPr lang="en-US" sz="1500" dirty="0"/>
          </a:p>
        </p:txBody>
      </p:sp>
      <p:sp>
        <p:nvSpPr>
          <p:cNvPr id="41" name="Shape 32"/>
          <p:cNvSpPr/>
          <p:nvPr/>
        </p:nvSpPr>
        <p:spPr>
          <a:xfrm>
            <a:off x="4297680" y="4480560"/>
            <a:ext cx="361188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9525">
            <a:solidFill>
              <a:srgbClr val="D9E4EC"/>
            </a:solidFill>
            <a:prstDash val="solid"/>
          </a:ln>
          <a:effectLst>
            <a:outerShdw sx="100000" sy="100000" kx="0" ky="0" algn="bl" rotWithShape="0" blurRad="101600" dist="25400" dir="5400000">
              <a:srgbClr val="0F2A4A">
                <a:alpha val="8000"/>
              </a:srgbClr>
            </a:outerShdw>
          </a:effectLst>
        </p:spPr>
      </p:sp>
      <p:sp>
        <p:nvSpPr>
          <p:cNvPr id="42" name="Shape 33"/>
          <p:cNvSpPr/>
          <p:nvPr/>
        </p:nvSpPr>
        <p:spPr>
          <a:xfrm>
            <a:off x="4526280" y="4846320"/>
            <a:ext cx="594360" cy="594360"/>
          </a:xfrm>
          <a:prstGeom prst="ellipse">
            <a:avLst/>
          </a:prstGeom>
          <a:solidFill>
            <a:srgbClr val="E8F3FA"/>
          </a:solidFill>
          <a:ln w="12700">
            <a:solidFill>
              <a:srgbClr val="E8F3FA"/>
            </a:solidFill>
            <a:prstDash val="solid"/>
          </a:ln>
        </p:spPr>
      </p:sp>
      <p:pic>
        <p:nvPicPr>
          <p:cNvPr id="4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74870" y="4994910"/>
            <a:ext cx="297180" cy="297180"/>
          </a:xfrm>
          <a:prstGeom prst="rect">
            <a:avLst/>
          </a:prstGeom>
        </p:spPr>
      </p:pic>
      <p:sp>
        <p:nvSpPr>
          <p:cNvPr id="44" name="Text 34"/>
          <p:cNvSpPr txBox="1"/>
          <p:nvPr/>
        </p:nvSpPr>
        <p:spPr>
          <a:xfrm>
            <a:off x="5349240" y="46634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2A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  <p:sp>
        <p:nvSpPr>
          <p:cNvPr id="45" name="Text 35"/>
          <p:cNvSpPr txBox="1"/>
          <p:nvPr/>
        </p:nvSpPr>
        <p:spPr>
          <a:xfrm>
            <a:off x="5349240" y="4937760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 CSV / XLSX dataset upload</a:t>
            </a:r>
            <a:endParaRPr lang="en-US" sz="1500" dirty="0"/>
          </a:p>
        </p:txBody>
      </p:sp>
      <p:sp>
        <p:nvSpPr>
          <p:cNvPr id="46" name="Shape 36"/>
          <p:cNvSpPr/>
          <p:nvPr/>
        </p:nvSpPr>
        <p:spPr>
          <a:xfrm>
            <a:off x="8046720" y="4480560"/>
            <a:ext cx="361188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9525">
            <a:solidFill>
              <a:srgbClr val="D9E4EC"/>
            </a:solidFill>
            <a:prstDash val="solid"/>
          </a:ln>
          <a:effectLst>
            <a:outerShdw sx="100000" sy="100000" kx="0" ky="0" algn="bl" rotWithShape="0" blurRad="101600" dist="25400" dir="5400000">
              <a:srgbClr val="0F2A4A">
                <a:alpha val="8000"/>
              </a:srgbClr>
            </a:outerShdw>
          </a:effectLst>
        </p:spPr>
      </p:sp>
      <p:sp>
        <p:nvSpPr>
          <p:cNvPr id="47" name="Shape 37"/>
          <p:cNvSpPr/>
          <p:nvPr/>
        </p:nvSpPr>
        <p:spPr>
          <a:xfrm>
            <a:off x="8275320" y="4846320"/>
            <a:ext cx="594360" cy="594360"/>
          </a:xfrm>
          <a:prstGeom prst="ellipse">
            <a:avLst/>
          </a:prstGeom>
          <a:solidFill>
            <a:srgbClr val="E8F3FA"/>
          </a:solidFill>
          <a:ln w="12700">
            <a:solidFill>
              <a:srgbClr val="E8F3FA"/>
            </a:solidFill>
            <a:prstDash val="solid"/>
          </a:ln>
        </p:spPr>
      </p:sp>
      <p:pic>
        <p:nvPicPr>
          <p:cNvPr id="4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23910" y="4994910"/>
            <a:ext cx="297180" cy="297180"/>
          </a:xfrm>
          <a:prstGeom prst="rect">
            <a:avLst/>
          </a:prstGeom>
        </p:spPr>
      </p:pic>
      <p:sp>
        <p:nvSpPr>
          <p:cNvPr id="49" name="Text 38"/>
          <p:cNvSpPr txBox="1"/>
          <p:nvPr/>
        </p:nvSpPr>
        <p:spPr>
          <a:xfrm>
            <a:off x="9098280" y="46634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2A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100" dirty="0"/>
          </a:p>
        </p:txBody>
      </p:sp>
      <p:sp>
        <p:nvSpPr>
          <p:cNvPr id="50" name="Text 39"/>
          <p:cNvSpPr txBox="1"/>
          <p:nvPr/>
        </p:nvSpPr>
        <p:spPr>
          <a:xfrm>
            <a:off x="9098280" y="4937760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complex data clearly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F7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|  TECHNOLOGIES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&amp; tools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COVID-19 Data Visualization Dashboard  |  BCA 5th Semester Minor Project  |  Sigma University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091672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2103120" cy="4434840"/>
          </a:xfrm>
          <a:prstGeom prst="roundRect">
            <a:avLst>
              <a:gd name="adj" fmla="val 5217"/>
            </a:avLst>
          </a:prstGeom>
          <a:solidFill>
            <a:srgbClr val="F4F8FB"/>
          </a:solidFill>
          <a:ln w="9525">
            <a:solidFill>
              <a:srgbClr val="D9E4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1508760"/>
            <a:ext cx="1828800" cy="347472"/>
          </a:xfrm>
          <a:prstGeom prst="roundRect">
            <a:avLst>
              <a:gd name="adj" fmla="val 26316"/>
            </a:avLst>
          </a:prstGeom>
          <a:solidFill>
            <a:srgbClr val="1F7FBF"/>
          </a:solidFill>
          <a:ln w="12700">
            <a:solidFill>
              <a:srgbClr val="1F7FB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150876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85800" y="2011680"/>
            <a:ext cx="182880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solidFill>
              <a:srgbClr val="D9E4E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95528" y="208483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795528" y="2377440"/>
            <a:ext cx="1600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of the dashboard page.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85800" y="2953512"/>
            <a:ext cx="182880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solidFill>
              <a:srgbClr val="D9E4E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95528" y="3026664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CSS3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795528" y="3319272"/>
            <a:ext cx="1600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Styling and layout.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85800" y="3895344"/>
            <a:ext cx="182880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solidFill>
              <a:srgbClr val="D9E4E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95528" y="3968496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795528" y="4261104"/>
            <a:ext cx="1600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Utility classes for a clean, responsive design.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85800" y="4837176"/>
            <a:ext cx="182880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solidFill>
              <a:srgbClr val="D9E4E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95528" y="491032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795528" y="5202936"/>
            <a:ext cx="1600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 dashboard logic, filtering and interaction.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798064" y="1371600"/>
            <a:ext cx="2103120" cy="4434840"/>
          </a:xfrm>
          <a:prstGeom prst="roundRect">
            <a:avLst>
              <a:gd name="adj" fmla="val 5217"/>
            </a:avLst>
          </a:prstGeom>
          <a:solidFill>
            <a:srgbClr val="F4F8FB"/>
          </a:solidFill>
          <a:ln w="9525">
            <a:solidFill>
              <a:srgbClr val="D9E4E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935224" y="1508760"/>
            <a:ext cx="1828800" cy="347472"/>
          </a:xfrm>
          <a:prstGeom prst="roundRect">
            <a:avLst>
              <a:gd name="adj" fmla="val 26316"/>
            </a:avLst>
          </a:prstGeom>
          <a:solidFill>
            <a:srgbClr val="22A6D6"/>
          </a:solidFill>
          <a:ln w="12700">
            <a:solidFill>
              <a:srgbClr val="22A6D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2935224" y="150876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935224" y="2011680"/>
            <a:ext cx="182880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solidFill>
              <a:srgbClr val="D9E4EC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044952" y="208483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Chart.js</a:t>
            </a:r>
            <a:endParaRPr lang="en-US" sz="1350" dirty="0"/>
          </a:p>
        </p:txBody>
      </p:sp>
      <p:sp>
        <p:nvSpPr>
          <p:cNvPr id="26" name="Text 24"/>
          <p:cNvSpPr txBox="1"/>
          <p:nvPr/>
        </p:nvSpPr>
        <p:spPr>
          <a:xfrm>
            <a:off x="3044952" y="2377440"/>
            <a:ext cx="1600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interactive charts.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2935224" y="2953512"/>
            <a:ext cx="182880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solidFill>
              <a:srgbClr val="D9E4EC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3044952" y="3026664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Highcharts</a:t>
            </a:r>
            <a:endParaRPr lang="en-US" sz="1350" dirty="0"/>
          </a:p>
        </p:txBody>
      </p:sp>
      <p:sp>
        <p:nvSpPr>
          <p:cNvPr id="29" name="Text 27"/>
          <p:cNvSpPr txBox="1"/>
          <p:nvPr/>
        </p:nvSpPr>
        <p:spPr>
          <a:xfrm>
            <a:off x="3044952" y="3319272"/>
            <a:ext cx="1600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Charting library for rich visuals.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2935224" y="3895344"/>
            <a:ext cx="182880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solidFill>
              <a:srgbClr val="D9E4EC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3044952" y="3968496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Highmaps</a:t>
            </a:r>
            <a:endParaRPr lang="en-US" sz="1350" dirty="0"/>
          </a:p>
        </p:txBody>
      </p:sp>
      <p:sp>
        <p:nvSpPr>
          <p:cNvPr id="32" name="Text 30"/>
          <p:cNvSpPr txBox="1"/>
          <p:nvPr/>
        </p:nvSpPr>
        <p:spPr>
          <a:xfrm>
            <a:off x="3044952" y="4261104"/>
            <a:ext cx="1600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visualization of Indian states.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047488" y="1371600"/>
            <a:ext cx="2103120" cy="4434840"/>
          </a:xfrm>
          <a:prstGeom prst="roundRect">
            <a:avLst>
              <a:gd name="adj" fmla="val 5217"/>
            </a:avLst>
          </a:prstGeom>
          <a:solidFill>
            <a:srgbClr val="F4F8FB"/>
          </a:solidFill>
          <a:ln w="9525">
            <a:solidFill>
              <a:srgbClr val="D9E4E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184648" y="1508760"/>
            <a:ext cx="1828800" cy="347472"/>
          </a:xfrm>
          <a:prstGeom prst="roundRect">
            <a:avLst>
              <a:gd name="adj" fmla="val 26316"/>
            </a:avLst>
          </a:prstGeom>
          <a:solidFill>
            <a:srgbClr val="1BA784"/>
          </a:solidFill>
          <a:ln w="12700">
            <a:solidFill>
              <a:srgbClr val="1BA784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5184648" y="150876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PROCESSING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184648" y="2011680"/>
            <a:ext cx="182880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solidFill>
              <a:srgbClr val="D9E4EC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5294376" y="208483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350" dirty="0"/>
          </a:p>
        </p:txBody>
      </p:sp>
      <p:sp>
        <p:nvSpPr>
          <p:cNvPr id="38" name="Text 36"/>
          <p:cNvSpPr txBox="1"/>
          <p:nvPr/>
        </p:nvSpPr>
        <p:spPr>
          <a:xfrm>
            <a:off x="5294376" y="2377440"/>
            <a:ext cx="1600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processing and ETL.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5184648" y="2953512"/>
            <a:ext cx="182880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solidFill>
              <a:srgbClr val="D9E4EC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5294376" y="3026664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1350" dirty="0"/>
          </a:p>
        </p:txBody>
      </p:sp>
      <p:sp>
        <p:nvSpPr>
          <p:cNvPr id="41" name="Text 39"/>
          <p:cNvSpPr txBox="1"/>
          <p:nvPr/>
        </p:nvSpPr>
        <p:spPr>
          <a:xfrm>
            <a:off x="5294376" y="3319272"/>
            <a:ext cx="1600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 and transforming data.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5184648" y="3895344"/>
            <a:ext cx="182880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solidFill>
              <a:srgbClr val="D9E4EC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5294376" y="3968496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OpenPyXL</a:t>
            </a:r>
            <a:endParaRPr lang="en-US" sz="1350" dirty="0"/>
          </a:p>
        </p:txBody>
      </p:sp>
      <p:sp>
        <p:nvSpPr>
          <p:cNvPr id="44" name="Text 42"/>
          <p:cNvSpPr txBox="1"/>
          <p:nvPr/>
        </p:nvSpPr>
        <p:spPr>
          <a:xfrm>
            <a:off x="5294376" y="4261104"/>
            <a:ext cx="1600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and writing Excel files.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7296912" y="1371600"/>
            <a:ext cx="2103120" cy="4434840"/>
          </a:xfrm>
          <a:prstGeom prst="roundRect">
            <a:avLst>
              <a:gd name="adj" fmla="val 5217"/>
            </a:avLst>
          </a:prstGeom>
          <a:solidFill>
            <a:srgbClr val="F4F8FB"/>
          </a:solidFill>
          <a:ln w="9525">
            <a:solidFill>
              <a:srgbClr val="D9E4EC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434072" y="1508760"/>
            <a:ext cx="1828800" cy="347472"/>
          </a:xfrm>
          <a:prstGeom prst="roundRect">
            <a:avLst>
              <a:gd name="adj" fmla="val 26316"/>
            </a:avLst>
          </a:prstGeom>
          <a:solidFill>
            <a:srgbClr val="7C4DDB"/>
          </a:solidFill>
          <a:ln w="12700">
            <a:solidFill>
              <a:srgbClr val="7C4DDB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7434072" y="150876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HANDLING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7434072" y="2011680"/>
            <a:ext cx="182880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solidFill>
              <a:srgbClr val="D9E4EC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7543800" y="208483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SheetJS</a:t>
            </a:r>
            <a:endParaRPr lang="en-US" sz="1350" dirty="0"/>
          </a:p>
        </p:txBody>
      </p:sp>
      <p:sp>
        <p:nvSpPr>
          <p:cNvPr id="50" name="Text 48"/>
          <p:cNvSpPr txBox="1"/>
          <p:nvPr/>
        </p:nvSpPr>
        <p:spPr>
          <a:xfrm>
            <a:off x="7543800" y="2377440"/>
            <a:ext cx="1600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Processes CSV/XLSX in the browser.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7434072" y="2953512"/>
            <a:ext cx="182880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solidFill>
              <a:srgbClr val="D9E4EC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7543800" y="3026664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</a:t>
            </a:r>
            <a:endParaRPr lang="en-US" sz="1350" dirty="0"/>
          </a:p>
        </p:txBody>
      </p:sp>
      <p:sp>
        <p:nvSpPr>
          <p:cNvPr id="53" name="Text 51"/>
          <p:cNvSpPr txBox="1"/>
          <p:nvPr/>
        </p:nvSpPr>
        <p:spPr>
          <a:xfrm>
            <a:off x="7543800" y="3319272"/>
            <a:ext cx="1600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text-based data format.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7434072" y="3895344"/>
            <a:ext cx="182880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solidFill>
              <a:srgbClr val="D9E4EC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7543800" y="3968496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XLSX</a:t>
            </a:r>
            <a:endParaRPr lang="en-US" sz="1350" dirty="0"/>
          </a:p>
        </p:txBody>
      </p:sp>
      <p:sp>
        <p:nvSpPr>
          <p:cNvPr id="56" name="Text 54"/>
          <p:cNvSpPr txBox="1"/>
          <p:nvPr/>
        </p:nvSpPr>
        <p:spPr>
          <a:xfrm>
            <a:off x="7543800" y="4261104"/>
            <a:ext cx="1600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workbook format.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9546336" y="1371600"/>
            <a:ext cx="2103120" cy="4434840"/>
          </a:xfrm>
          <a:prstGeom prst="roundRect">
            <a:avLst>
              <a:gd name="adj" fmla="val 5217"/>
            </a:avLst>
          </a:prstGeom>
          <a:solidFill>
            <a:srgbClr val="F4F8FB"/>
          </a:solidFill>
          <a:ln w="9525">
            <a:solidFill>
              <a:srgbClr val="D9E4EC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9683496" y="1508760"/>
            <a:ext cx="1828800" cy="347472"/>
          </a:xfrm>
          <a:prstGeom prst="roundRect">
            <a:avLst>
              <a:gd name="adj" fmla="val 26316"/>
            </a:avLst>
          </a:prstGeom>
          <a:solidFill>
            <a:srgbClr val="0F2A4A"/>
          </a:solidFill>
          <a:ln w="12700">
            <a:solidFill>
              <a:srgbClr val="0F2A4A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9683496" y="150876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9683496" y="2011680"/>
            <a:ext cx="182880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solidFill>
              <a:srgbClr val="D9E4EC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9793224" y="208483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</a:t>
            </a:r>
            <a:endParaRPr lang="en-US" sz="1350" dirty="0"/>
          </a:p>
        </p:txBody>
      </p:sp>
      <p:sp>
        <p:nvSpPr>
          <p:cNvPr id="62" name="Text 60"/>
          <p:cNvSpPr txBox="1"/>
          <p:nvPr/>
        </p:nvSpPr>
        <p:spPr>
          <a:xfrm>
            <a:off x="9793224" y="2377440"/>
            <a:ext cx="1600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runtime for tooling.</a:t>
            </a:r>
            <a:endParaRPr lang="en-US" sz="1050" dirty="0"/>
          </a:p>
        </p:txBody>
      </p:sp>
      <p:sp>
        <p:nvSpPr>
          <p:cNvPr id="63" name="Shape 61"/>
          <p:cNvSpPr/>
          <p:nvPr/>
        </p:nvSpPr>
        <p:spPr>
          <a:xfrm>
            <a:off x="9683496" y="2953512"/>
            <a:ext cx="182880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solidFill>
              <a:srgbClr val="D9E4EC"/>
            </a:solidFill>
            <a:prstDash val="solid"/>
          </a:ln>
        </p:spPr>
      </p:sp>
      <p:sp>
        <p:nvSpPr>
          <p:cNvPr id="64" name="Text 62"/>
          <p:cNvSpPr txBox="1"/>
          <p:nvPr/>
        </p:nvSpPr>
        <p:spPr>
          <a:xfrm>
            <a:off x="9793224" y="3026664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</a:t>
            </a:r>
            <a:endParaRPr lang="en-US" sz="1350" dirty="0"/>
          </a:p>
        </p:txBody>
      </p:sp>
      <p:sp>
        <p:nvSpPr>
          <p:cNvPr id="65" name="Text 63"/>
          <p:cNvSpPr txBox="1"/>
          <p:nvPr/>
        </p:nvSpPr>
        <p:spPr>
          <a:xfrm>
            <a:off x="9793224" y="3319272"/>
            <a:ext cx="1600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manager.</a:t>
            </a:r>
            <a:endParaRPr lang="en-US" sz="1050" dirty="0"/>
          </a:p>
        </p:txBody>
      </p:sp>
      <p:sp>
        <p:nvSpPr>
          <p:cNvPr id="66" name="Shape 64"/>
          <p:cNvSpPr/>
          <p:nvPr/>
        </p:nvSpPr>
        <p:spPr>
          <a:xfrm>
            <a:off x="9683496" y="3895344"/>
            <a:ext cx="182880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solidFill>
              <a:srgbClr val="D9E4EC"/>
            </a:solidFill>
            <a:prstDash val="solid"/>
          </a:ln>
        </p:spPr>
      </p:sp>
      <p:sp>
        <p:nvSpPr>
          <p:cNvPr id="67" name="Text 65"/>
          <p:cNvSpPr txBox="1"/>
          <p:nvPr/>
        </p:nvSpPr>
        <p:spPr>
          <a:xfrm>
            <a:off x="9793224" y="3968496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/ GitHub</a:t>
            </a:r>
            <a:endParaRPr lang="en-US" sz="1350" dirty="0"/>
          </a:p>
        </p:txBody>
      </p:sp>
      <p:sp>
        <p:nvSpPr>
          <p:cNvPr id="68" name="Text 66"/>
          <p:cNvSpPr txBox="1"/>
          <p:nvPr/>
        </p:nvSpPr>
        <p:spPr>
          <a:xfrm>
            <a:off x="9793224" y="4261104"/>
            <a:ext cx="1600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 and repository hosting.</a:t>
            </a:r>
            <a:endParaRPr lang="en-US" sz="1050" dirty="0"/>
          </a:p>
        </p:txBody>
      </p:sp>
      <p:sp>
        <p:nvSpPr>
          <p:cNvPr id="69" name="Shape 67"/>
          <p:cNvSpPr/>
          <p:nvPr/>
        </p:nvSpPr>
        <p:spPr>
          <a:xfrm>
            <a:off x="548640" y="5943600"/>
            <a:ext cx="11091672" cy="411480"/>
          </a:xfrm>
          <a:prstGeom prst="roundRect">
            <a:avLst>
              <a:gd name="adj" fmla="val 22222"/>
            </a:avLst>
          </a:prstGeom>
          <a:solidFill>
            <a:srgbClr val="E8F3FA"/>
          </a:solidFill>
          <a:ln w="12700">
            <a:solidFill>
              <a:srgbClr val="E8F3FA"/>
            </a:solidFill>
            <a:prstDash val="solid"/>
          </a:ln>
        </p:spPr>
      </p:sp>
      <p:sp>
        <p:nvSpPr>
          <p:cNvPr id="70" name="Text 68"/>
          <p:cNvSpPr txBox="1"/>
          <p:nvPr/>
        </p:nvSpPr>
        <p:spPr>
          <a:xfrm>
            <a:off x="731520" y="5943600"/>
            <a:ext cx="10725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7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explanation:  </a:t>
            </a:r>
            <a:pPr indent="0" marL="0">
              <a:buNone/>
            </a:pPr>
            <a:r>
              <a:rPr lang="en-US" sz="1300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prepares the data, JavaScript runs the dashboard, and chart/map libraries draw the visuals.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F7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|  SYSTEM ARCHITECTURE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COVID-19 Data Visualization Dashboard  |  BCA 5th Semester Minor Project  |  Sigma University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091672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13716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2225">
            <a:solidFill>
              <a:srgbClr val="7A8A9A"/>
            </a:solidFill>
            <a:prstDash val="solid"/>
          </a:ln>
          <a:effectLst>
            <a:outerShdw sx="100000" sy="100000" kx="0" ky="0" algn="bl" rotWithShape="0" blurRad="101600" dist="25400" dir="5400000">
              <a:srgbClr val="0F2A4A">
                <a:alpha val="8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548640" y="1828800"/>
            <a:ext cx="1371600" cy="9144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COVID DATA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7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/ XLSX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938528" y="2286000"/>
            <a:ext cx="219456" cy="0"/>
          </a:xfrm>
          <a:prstGeom prst="line">
            <a:avLst/>
          </a:prstGeom>
          <a:noFill/>
          <a:ln w="19050">
            <a:solidFill>
              <a:srgbClr val="7A8A9A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176272" y="1828800"/>
            <a:ext cx="13716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2225">
            <a:solidFill>
              <a:srgbClr val="7A8A9A"/>
            </a:solidFill>
            <a:prstDash val="solid"/>
          </a:ln>
          <a:effectLst>
            <a:outerShdw sx="100000" sy="100000" kx="0" ky="0" algn="bl" rotWithShape="0" blurRad="101600" dist="25400" dir="5400000">
              <a:srgbClr val="0F2A4A">
                <a:alpha val="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2176272" y="1828800"/>
            <a:ext cx="1371600" cy="9144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INGESTION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566160" y="2286000"/>
            <a:ext cx="219456" cy="0"/>
          </a:xfrm>
          <a:prstGeom prst="line">
            <a:avLst/>
          </a:prstGeom>
          <a:noFill/>
          <a:ln w="19050">
            <a:solidFill>
              <a:srgbClr val="7A8A9A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803904" y="1828800"/>
            <a:ext cx="13716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2225">
            <a:solidFill>
              <a:srgbClr val="1F7FBF"/>
            </a:solidFill>
            <a:prstDash val="solid"/>
          </a:ln>
          <a:effectLst>
            <a:outerShdw sx="100000" sy="100000" kx="0" ky="0" algn="bl" rotWithShape="0" blurRad="101600" dist="25400" dir="5400000">
              <a:srgbClr val="0F2A4A">
                <a:alpha val="8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3803904" y="1828800"/>
            <a:ext cx="1371600" cy="9144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ETL LAYER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193792" y="2286000"/>
            <a:ext cx="219456" cy="0"/>
          </a:xfrm>
          <a:prstGeom prst="line">
            <a:avLst/>
          </a:prstGeom>
          <a:noFill/>
          <a:ln w="19050">
            <a:solidFill>
              <a:srgbClr val="7A8A9A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431536" y="1828800"/>
            <a:ext cx="13716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2225">
            <a:solidFill>
              <a:srgbClr val="1BA784"/>
            </a:solidFill>
            <a:prstDash val="solid"/>
          </a:ln>
          <a:effectLst>
            <a:outerShdw sx="100000" sy="100000" kx="0" ky="0" algn="bl" rotWithShape="0" blurRad="101600" dist="25400" dir="5400000">
              <a:srgbClr val="0F2A4A">
                <a:alpha val="8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5431536" y="1828800"/>
            <a:ext cx="1371600" cy="9144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PROCESSED DATASET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821424" y="2286000"/>
            <a:ext cx="219456" cy="0"/>
          </a:xfrm>
          <a:prstGeom prst="line">
            <a:avLst/>
          </a:prstGeom>
          <a:noFill/>
          <a:ln w="19050">
            <a:solidFill>
              <a:srgbClr val="7A8A9A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7059168" y="1828800"/>
            <a:ext cx="13716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2225">
            <a:solidFill>
              <a:srgbClr val="22A6D6"/>
            </a:solidFill>
            <a:prstDash val="solid"/>
          </a:ln>
          <a:effectLst>
            <a:outerShdw sx="100000" sy="100000" kx="0" ky="0" algn="bl" rotWithShape="0" blurRad="101600" dist="25400" dir="5400000">
              <a:srgbClr val="0F2A4A">
                <a:alpha val="8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7059168" y="1828800"/>
            <a:ext cx="1371600" cy="9144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DATA ENGINE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449056" y="2286000"/>
            <a:ext cx="219456" cy="0"/>
          </a:xfrm>
          <a:prstGeom prst="line">
            <a:avLst/>
          </a:prstGeom>
          <a:noFill/>
          <a:ln w="19050">
            <a:solidFill>
              <a:srgbClr val="7A8A9A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8686800" y="1828800"/>
            <a:ext cx="13716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2225">
            <a:solidFill>
              <a:srgbClr val="7C4DDB"/>
            </a:solidFill>
            <a:prstDash val="solid"/>
          </a:ln>
          <a:effectLst>
            <a:outerShdw sx="100000" sy="100000" kx="0" ky="0" algn="bl" rotWithShape="0" blurRad="101600" dist="25400" dir="5400000">
              <a:srgbClr val="0F2A4A">
                <a:alpha val="8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8686800" y="1828800"/>
            <a:ext cx="1371600" cy="9144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 ENGINE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0076688" y="2286000"/>
            <a:ext cx="219456" cy="0"/>
          </a:xfrm>
          <a:prstGeom prst="line">
            <a:avLst/>
          </a:prstGeom>
          <a:noFill/>
          <a:ln w="19050">
            <a:solidFill>
              <a:srgbClr val="7A8A9A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10314432" y="1828800"/>
            <a:ext cx="1371600" cy="914400"/>
          </a:xfrm>
          <a:prstGeom prst="roundRect">
            <a:avLst>
              <a:gd name="adj" fmla="val 12000"/>
            </a:avLst>
          </a:prstGeom>
          <a:solidFill>
            <a:srgbClr val="1BA784"/>
          </a:solidFill>
          <a:ln w="22225">
            <a:solidFill>
              <a:srgbClr val="1BA784"/>
            </a:solidFill>
            <a:prstDash val="solid"/>
          </a:ln>
          <a:effectLst>
            <a:outerShdw sx="100000" sy="100000" kx="0" ky="0" algn="bl" rotWithShape="0" blurRad="101600" dist="25400" dir="5400000">
              <a:srgbClr val="0F2A4A">
                <a:alpha val="8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10314432" y="1828800"/>
            <a:ext cx="1371600" cy="9144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DASHBOARD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489704" y="2761488"/>
            <a:ext cx="0" cy="320040"/>
          </a:xfrm>
          <a:prstGeom prst="line">
            <a:avLst/>
          </a:prstGeom>
          <a:noFill/>
          <a:ln w="15875">
            <a:solidFill>
              <a:srgbClr val="7A8A9A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3803904" y="3127248"/>
            <a:ext cx="1371600" cy="457200"/>
          </a:xfrm>
          <a:prstGeom prst="roundRect">
            <a:avLst>
              <a:gd name="adj" fmla="val 16000"/>
            </a:avLst>
          </a:prstGeom>
          <a:solidFill>
            <a:srgbClr val="F4F8FB"/>
          </a:solidFill>
          <a:ln w="12700">
            <a:solidFill>
              <a:srgbClr val="1F7FB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3803904" y="312724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803904" y="3694176"/>
            <a:ext cx="1371600" cy="457200"/>
          </a:xfrm>
          <a:prstGeom prst="roundRect">
            <a:avLst>
              <a:gd name="adj" fmla="val 16000"/>
            </a:avLst>
          </a:prstGeom>
          <a:solidFill>
            <a:srgbClr val="F4F8FB"/>
          </a:solidFill>
          <a:ln w="12700">
            <a:solidFill>
              <a:srgbClr val="1F7FB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3803904" y="3694176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3803904" y="4261104"/>
            <a:ext cx="1371600" cy="457200"/>
          </a:xfrm>
          <a:prstGeom prst="roundRect">
            <a:avLst>
              <a:gd name="adj" fmla="val 16000"/>
            </a:avLst>
          </a:prstGeom>
          <a:solidFill>
            <a:srgbClr val="F4F8FB"/>
          </a:solidFill>
          <a:ln w="12700">
            <a:solidFill>
              <a:srgbClr val="1F7FBF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3803904" y="4261104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TRANSFORMATION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7744968" y="2761488"/>
            <a:ext cx="0" cy="320040"/>
          </a:xfrm>
          <a:prstGeom prst="line">
            <a:avLst/>
          </a:prstGeom>
          <a:noFill/>
          <a:ln w="15875">
            <a:solidFill>
              <a:srgbClr val="7A8A9A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7059168" y="3127248"/>
            <a:ext cx="1371600" cy="457200"/>
          </a:xfrm>
          <a:prstGeom prst="roundRect">
            <a:avLst>
              <a:gd name="adj" fmla="val 16000"/>
            </a:avLst>
          </a:prstGeom>
          <a:solidFill>
            <a:srgbClr val="F4F8FB"/>
          </a:solidFill>
          <a:ln w="12700">
            <a:solidFill>
              <a:srgbClr val="22A6D6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059168" y="312724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FILTERING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7059168" y="3694176"/>
            <a:ext cx="1371600" cy="457200"/>
          </a:xfrm>
          <a:prstGeom prst="roundRect">
            <a:avLst>
              <a:gd name="adj" fmla="val 16000"/>
            </a:avLst>
          </a:prstGeom>
          <a:solidFill>
            <a:srgbClr val="F4F8FB"/>
          </a:solidFill>
          <a:ln w="12700">
            <a:solidFill>
              <a:srgbClr val="22A6D6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7059168" y="3694176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CALCULATIONS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7059168" y="4261104"/>
            <a:ext cx="1371600" cy="457200"/>
          </a:xfrm>
          <a:prstGeom prst="roundRect">
            <a:avLst>
              <a:gd name="adj" fmla="val 16000"/>
            </a:avLst>
          </a:prstGeom>
          <a:solidFill>
            <a:srgbClr val="F4F8FB"/>
          </a:solidFill>
          <a:ln w="12700">
            <a:solidFill>
              <a:srgbClr val="22A6D6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7059168" y="4261104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9372600" y="2761488"/>
            <a:ext cx="0" cy="320040"/>
          </a:xfrm>
          <a:prstGeom prst="line">
            <a:avLst/>
          </a:prstGeom>
          <a:noFill/>
          <a:ln w="15875">
            <a:solidFill>
              <a:srgbClr val="7A8A9A"/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8686800" y="3127248"/>
            <a:ext cx="1371600" cy="457200"/>
          </a:xfrm>
          <a:prstGeom prst="roundRect">
            <a:avLst>
              <a:gd name="adj" fmla="val 16000"/>
            </a:avLst>
          </a:prstGeom>
          <a:solidFill>
            <a:srgbClr val="F4F8FB"/>
          </a:solidFill>
          <a:ln w="12700">
            <a:solidFill>
              <a:srgbClr val="7C4DDB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8686800" y="312724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CHARTS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8686800" y="3694176"/>
            <a:ext cx="1371600" cy="457200"/>
          </a:xfrm>
          <a:prstGeom prst="roundRect">
            <a:avLst>
              <a:gd name="adj" fmla="val 16000"/>
            </a:avLst>
          </a:prstGeom>
          <a:solidFill>
            <a:srgbClr val="F4F8FB"/>
          </a:solidFill>
          <a:ln w="12700">
            <a:solidFill>
              <a:srgbClr val="7C4DDB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8686800" y="3694176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</a:t>
            </a:r>
            <a:endParaRPr lang="en-US" sz="1050" dirty="0"/>
          </a:p>
        </p:txBody>
      </p:sp>
      <p:sp>
        <p:nvSpPr>
          <p:cNvPr id="45" name="Text 43"/>
          <p:cNvSpPr txBox="1"/>
          <p:nvPr/>
        </p:nvSpPr>
        <p:spPr>
          <a:xfrm>
            <a:off x="2176272" y="1417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F7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ENGINEERING</a:t>
            </a:r>
            <a:endParaRPr lang="en-US" sz="1000" dirty="0"/>
          </a:p>
        </p:txBody>
      </p:sp>
      <p:sp>
        <p:nvSpPr>
          <p:cNvPr id="46" name="Text 44"/>
          <p:cNvSpPr txBox="1"/>
          <p:nvPr/>
        </p:nvSpPr>
        <p:spPr>
          <a:xfrm>
            <a:off x="7059168" y="1417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7C4D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APPLICATION (BROWSER)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548640" y="5943600"/>
            <a:ext cx="11091672" cy="411480"/>
          </a:xfrm>
          <a:prstGeom prst="roundRect">
            <a:avLst>
              <a:gd name="adj" fmla="val 22222"/>
            </a:avLst>
          </a:prstGeom>
          <a:solidFill>
            <a:srgbClr val="E8F3FA"/>
          </a:solidFill>
          <a:ln w="12700">
            <a:solidFill>
              <a:srgbClr val="E8F3FA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731520" y="5943600"/>
            <a:ext cx="10725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7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explanation:  </a:t>
            </a:r>
            <a:pPr indent="0" marL="0">
              <a:buNone/>
            </a:pPr>
            <a:r>
              <a:rPr lang="en-US" sz="1300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cleans the data first; then the browser filters it, calculates results and draws charts and the map.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F7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|  DATA ENGINEERING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&amp; ETL pipeline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COVID-19 Data Visualization Dashboard  |  BCA 5th Semester Minor Project  |  Sigma University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091672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2377440" cy="1115568"/>
          </a:xfrm>
          <a:prstGeom prst="roundRect">
            <a:avLst>
              <a:gd name="adj" fmla="val 9836"/>
            </a:avLst>
          </a:prstGeom>
          <a:solidFill>
            <a:srgbClr val="FFFFFF"/>
          </a:solidFill>
          <a:ln w="9525">
            <a:solidFill>
              <a:srgbClr val="D9E4EC"/>
            </a:solidFill>
            <a:prstDash val="solid"/>
          </a:ln>
          <a:effectLst>
            <a:outerShdw sx="100000" sy="100000" kx="0" ky="0" algn="bl" rotWithShape="0" blurRad="101600" dist="25400" dir="5400000">
              <a:srgbClr val="0F2A4A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1600200"/>
            <a:ext cx="384048" cy="384048"/>
          </a:xfrm>
          <a:prstGeom prst="ellipse">
            <a:avLst/>
          </a:prstGeom>
          <a:solidFill>
            <a:srgbClr val="1F7FB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1600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2075688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ingestion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063240" y="1417320"/>
            <a:ext cx="2377440" cy="1115568"/>
          </a:xfrm>
          <a:prstGeom prst="roundRect">
            <a:avLst>
              <a:gd name="adj" fmla="val 9836"/>
            </a:avLst>
          </a:prstGeom>
          <a:solidFill>
            <a:srgbClr val="FFFFFF"/>
          </a:solidFill>
          <a:ln w="9525">
            <a:solidFill>
              <a:srgbClr val="D9E4EC"/>
            </a:solidFill>
            <a:prstDash val="solid"/>
          </a:ln>
          <a:effectLst>
            <a:outerShdw sx="100000" sy="100000" kx="0" ky="0" algn="bl" rotWithShape="0" blurRad="101600" dist="25400" dir="5400000">
              <a:srgbClr val="0F2A4A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46120" y="1600200"/>
            <a:ext cx="384048" cy="384048"/>
          </a:xfrm>
          <a:prstGeom prst="ellipse">
            <a:avLst/>
          </a:prstGeom>
          <a:solidFill>
            <a:srgbClr val="1F7FB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246120" y="1600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3246120" y="2075688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standardization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577840" y="1417320"/>
            <a:ext cx="2377440" cy="1115568"/>
          </a:xfrm>
          <a:prstGeom prst="roundRect">
            <a:avLst>
              <a:gd name="adj" fmla="val 9836"/>
            </a:avLst>
          </a:prstGeom>
          <a:solidFill>
            <a:srgbClr val="FFFFFF"/>
          </a:solidFill>
          <a:ln w="9525">
            <a:solidFill>
              <a:srgbClr val="D9E4EC"/>
            </a:solidFill>
            <a:prstDash val="solid"/>
          </a:ln>
          <a:effectLst>
            <a:outerShdw sx="100000" sy="100000" kx="0" ky="0" algn="bl" rotWithShape="0" blurRad="101600" dist="25400" dir="5400000">
              <a:srgbClr val="0F2A4A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760720" y="1600200"/>
            <a:ext cx="384048" cy="384048"/>
          </a:xfrm>
          <a:prstGeom prst="ellipse">
            <a:avLst/>
          </a:prstGeom>
          <a:solidFill>
            <a:srgbClr val="1F7FB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760720" y="1600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5760720" y="2075688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 handling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48640" y="2697480"/>
            <a:ext cx="2377440" cy="1115568"/>
          </a:xfrm>
          <a:prstGeom prst="roundRect">
            <a:avLst>
              <a:gd name="adj" fmla="val 9836"/>
            </a:avLst>
          </a:prstGeom>
          <a:solidFill>
            <a:srgbClr val="FFFFFF"/>
          </a:solidFill>
          <a:ln w="9525">
            <a:solidFill>
              <a:srgbClr val="D9E4EC"/>
            </a:solidFill>
            <a:prstDash val="solid"/>
          </a:ln>
          <a:effectLst>
            <a:outerShdw sx="100000" sy="100000" kx="0" ky="0" algn="bl" rotWithShape="0" blurRad="101600" dist="25400" dir="5400000">
              <a:srgbClr val="0F2A4A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31520" y="2880360"/>
            <a:ext cx="384048" cy="384048"/>
          </a:xfrm>
          <a:prstGeom prst="ellipse">
            <a:avLst/>
          </a:prstGeom>
          <a:solidFill>
            <a:srgbClr val="1F7FB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31520" y="2880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731520" y="3355848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type conversion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3063240" y="2697480"/>
            <a:ext cx="2377440" cy="1115568"/>
          </a:xfrm>
          <a:prstGeom prst="roundRect">
            <a:avLst>
              <a:gd name="adj" fmla="val 9836"/>
            </a:avLst>
          </a:prstGeom>
          <a:solidFill>
            <a:srgbClr val="FFFFFF"/>
          </a:solidFill>
          <a:ln w="9525">
            <a:solidFill>
              <a:srgbClr val="D9E4EC"/>
            </a:solidFill>
            <a:prstDash val="solid"/>
          </a:ln>
          <a:effectLst>
            <a:outerShdw sx="100000" sy="100000" kx="0" ky="0" algn="bl" rotWithShape="0" blurRad="101600" dist="25400" dir="5400000">
              <a:srgbClr val="0F2A4A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46120" y="2880360"/>
            <a:ext cx="384048" cy="384048"/>
          </a:xfrm>
          <a:prstGeom prst="ellipse">
            <a:avLst/>
          </a:prstGeom>
          <a:solidFill>
            <a:srgbClr val="1F7FB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246120" y="2880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3246120" y="3355848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validation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5577840" y="2697480"/>
            <a:ext cx="2377440" cy="1115568"/>
          </a:xfrm>
          <a:prstGeom prst="roundRect">
            <a:avLst>
              <a:gd name="adj" fmla="val 9836"/>
            </a:avLst>
          </a:prstGeom>
          <a:solidFill>
            <a:srgbClr val="FFFFFF"/>
          </a:solidFill>
          <a:ln w="9525">
            <a:solidFill>
              <a:srgbClr val="D9E4EC"/>
            </a:solidFill>
            <a:prstDash val="solid"/>
          </a:ln>
          <a:effectLst>
            <a:outerShdw sx="100000" sy="100000" kx="0" ky="0" algn="bl" rotWithShape="0" blurRad="101600" dist="25400" dir="5400000">
              <a:srgbClr val="0F2A4A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760720" y="2880360"/>
            <a:ext cx="384048" cy="384048"/>
          </a:xfrm>
          <a:prstGeom prst="ellipse">
            <a:avLst/>
          </a:prstGeom>
          <a:solidFill>
            <a:srgbClr val="1F7FB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760720" y="2880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5760720" y="3355848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 record detection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548640" y="3977640"/>
            <a:ext cx="2377440" cy="1115568"/>
          </a:xfrm>
          <a:prstGeom prst="roundRect">
            <a:avLst>
              <a:gd name="adj" fmla="val 9836"/>
            </a:avLst>
          </a:prstGeom>
          <a:solidFill>
            <a:srgbClr val="FFFFFF"/>
          </a:solidFill>
          <a:ln w="9525">
            <a:solidFill>
              <a:srgbClr val="D9E4EC"/>
            </a:solidFill>
            <a:prstDash val="solid"/>
          </a:ln>
          <a:effectLst>
            <a:outerShdw sx="100000" sy="100000" kx="0" ky="0" algn="bl" rotWithShape="0" blurRad="101600" dist="25400" dir="5400000">
              <a:srgbClr val="0F2A4A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731520" y="4160520"/>
            <a:ext cx="384048" cy="384048"/>
          </a:xfrm>
          <a:prstGeom prst="ellipse">
            <a:avLst/>
          </a:prstGeom>
          <a:solidFill>
            <a:srgbClr val="1F7FB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73152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731520" y="4636008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checking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3063240" y="3977640"/>
            <a:ext cx="2377440" cy="1115568"/>
          </a:xfrm>
          <a:prstGeom prst="roundRect">
            <a:avLst>
              <a:gd name="adj" fmla="val 9836"/>
            </a:avLst>
          </a:prstGeom>
          <a:solidFill>
            <a:srgbClr val="FFFFFF"/>
          </a:solidFill>
          <a:ln w="9525">
            <a:solidFill>
              <a:srgbClr val="D9E4EC"/>
            </a:solidFill>
            <a:prstDash val="solid"/>
          </a:ln>
          <a:effectLst>
            <a:outerShdw sx="100000" sy="100000" kx="0" ky="0" algn="bl" rotWithShape="0" blurRad="101600" dist="25400" dir="5400000">
              <a:srgbClr val="0F2A4A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246120" y="4160520"/>
            <a:ext cx="384048" cy="384048"/>
          </a:xfrm>
          <a:prstGeom prst="ellipse">
            <a:avLst/>
          </a:prstGeom>
          <a:solidFill>
            <a:srgbClr val="1F7FB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324612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3246120" y="4636008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 consistency checks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5577840" y="3977640"/>
            <a:ext cx="2377440" cy="1115568"/>
          </a:xfrm>
          <a:prstGeom prst="roundRect">
            <a:avLst>
              <a:gd name="adj" fmla="val 9836"/>
            </a:avLst>
          </a:prstGeom>
          <a:solidFill>
            <a:srgbClr val="FFFFFF"/>
          </a:solidFill>
          <a:ln w="9525">
            <a:solidFill>
              <a:srgbClr val="D9E4EC"/>
            </a:solidFill>
            <a:prstDash val="solid"/>
          </a:ln>
          <a:effectLst>
            <a:outerShdw sx="100000" sy="100000" kx="0" ky="0" algn="bl" rotWithShape="0" blurRad="101600" dist="25400" dir="5400000">
              <a:srgbClr val="0F2A4A">
                <a:alpha val="8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5760720" y="4160520"/>
            <a:ext cx="384048" cy="384048"/>
          </a:xfrm>
          <a:prstGeom prst="ellipse">
            <a:avLst/>
          </a:prstGeom>
          <a:solidFill>
            <a:srgbClr val="1BA78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576072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300" dirty="0"/>
          </a:p>
        </p:txBody>
      </p:sp>
      <p:sp>
        <p:nvSpPr>
          <p:cNvPr id="41" name="Text 39"/>
          <p:cNvSpPr txBox="1"/>
          <p:nvPr/>
        </p:nvSpPr>
        <p:spPr>
          <a:xfrm>
            <a:off x="5760720" y="4636008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Processed dataset generated</a:t>
            </a:r>
            <a:endParaRPr lang="en-US" sz="1250" dirty="0"/>
          </a:p>
        </p:txBody>
      </p:sp>
      <p:sp>
        <p:nvSpPr>
          <p:cNvPr id="42" name="Shape 40"/>
          <p:cNvSpPr/>
          <p:nvPr/>
        </p:nvSpPr>
        <p:spPr>
          <a:xfrm>
            <a:off x="548640" y="5349240"/>
            <a:ext cx="7406640" cy="502920"/>
          </a:xfrm>
          <a:prstGeom prst="roundRect">
            <a:avLst>
              <a:gd name="adj" fmla="val 21818"/>
            </a:avLst>
          </a:prstGeom>
          <a:solidFill>
            <a:srgbClr val="F4F8FB"/>
          </a:solidFill>
          <a:ln w="9525">
            <a:solidFill>
              <a:srgbClr val="D9E4EC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731520" y="5349240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7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+ Pandas </a:t>
            </a:r>
            <a:pPr indent="0" marL="0">
              <a:buNone/>
            </a:pPr>
            <a:r>
              <a:rPr lang="en-US" sz="1250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this stage.   </a:t>
            </a:r>
            <a:pPr indent="0" marL="0">
              <a:buNone/>
            </a:pPr>
            <a:r>
              <a:rPr lang="en-US" sz="1250" i="1" dirty="0">
                <a:solidFill>
                  <a:srgbClr val="4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"Good visualization depends on reliable data."</a:t>
            </a:r>
            <a:endParaRPr lang="en-US" sz="1250" dirty="0"/>
          </a:p>
        </p:txBody>
      </p:sp>
      <p:sp>
        <p:nvSpPr>
          <p:cNvPr id="44" name="Shape 42"/>
          <p:cNvSpPr/>
          <p:nvPr/>
        </p:nvSpPr>
        <p:spPr>
          <a:xfrm>
            <a:off x="8686800" y="1417320"/>
            <a:ext cx="292608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5875">
            <a:solidFill>
              <a:srgbClr val="7A8A9A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8686800" y="1417320"/>
            <a:ext cx="292608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10149840" y="1892808"/>
            <a:ext cx="0" cy="192024"/>
          </a:xfrm>
          <a:prstGeom prst="line">
            <a:avLst/>
          </a:prstGeom>
          <a:noFill/>
          <a:ln w="15875">
            <a:solidFill>
              <a:srgbClr val="7A8A9A"/>
            </a:solidFill>
            <a:prstDash val="solid"/>
            <a:tailEnd type="triangle"/>
          </a:ln>
        </p:spPr>
      </p:sp>
      <p:sp>
        <p:nvSpPr>
          <p:cNvPr id="47" name="Shape 45"/>
          <p:cNvSpPr/>
          <p:nvPr/>
        </p:nvSpPr>
        <p:spPr>
          <a:xfrm>
            <a:off x="8686800" y="2103120"/>
            <a:ext cx="292608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5875">
            <a:solidFill>
              <a:srgbClr val="E5365F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8686800" y="2103120"/>
            <a:ext cx="292608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MESSY / INCONSISTENT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10149840" y="2578608"/>
            <a:ext cx="0" cy="192024"/>
          </a:xfrm>
          <a:prstGeom prst="line">
            <a:avLst/>
          </a:prstGeom>
          <a:noFill/>
          <a:ln w="15875">
            <a:solidFill>
              <a:srgbClr val="7A8A9A"/>
            </a:solidFill>
            <a:prstDash val="solid"/>
            <a:tailEnd type="triangle"/>
          </a:ln>
        </p:spPr>
      </p:sp>
      <p:sp>
        <p:nvSpPr>
          <p:cNvPr id="50" name="Shape 48"/>
          <p:cNvSpPr/>
          <p:nvPr/>
        </p:nvSpPr>
        <p:spPr>
          <a:xfrm>
            <a:off x="8686800" y="2788920"/>
            <a:ext cx="292608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5875">
            <a:solidFill>
              <a:srgbClr val="1F7FBF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8686800" y="2788920"/>
            <a:ext cx="292608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10149840" y="3264408"/>
            <a:ext cx="0" cy="192024"/>
          </a:xfrm>
          <a:prstGeom prst="line">
            <a:avLst/>
          </a:prstGeom>
          <a:noFill/>
          <a:ln w="15875">
            <a:solidFill>
              <a:srgbClr val="7A8A9A"/>
            </a:solidFill>
            <a:prstDash val="solid"/>
            <a:tailEnd type="triangle"/>
          </a:ln>
        </p:spPr>
      </p:sp>
      <p:sp>
        <p:nvSpPr>
          <p:cNvPr id="53" name="Shape 51"/>
          <p:cNvSpPr/>
          <p:nvPr/>
        </p:nvSpPr>
        <p:spPr>
          <a:xfrm>
            <a:off x="8686800" y="3474720"/>
            <a:ext cx="292608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5875">
            <a:solidFill>
              <a:srgbClr val="1F7FBF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8686800" y="3474720"/>
            <a:ext cx="292608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10149840" y="3950208"/>
            <a:ext cx="0" cy="192024"/>
          </a:xfrm>
          <a:prstGeom prst="line">
            <a:avLst/>
          </a:prstGeom>
          <a:noFill/>
          <a:ln w="15875">
            <a:solidFill>
              <a:srgbClr val="7A8A9A"/>
            </a:solidFill>
            <a:prstDash val="solid"/>
            <a:tailEnd type="triangle"/>
          </a:ln>
        </p:spPr>
      </p:sp>
      <p:sp>
        <p:nvSpPr>
          <p:cNvPr id="56" name="Shape 54"/>
          <p:cNvSpPr/>
          <p:nvPr/>
        </p:nvSpPr>
        <p:spPr>
          <a:xfrm>
            <a:off x="8686800" y="4160520"/>
            <a:ext cx="292608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5875">
            <a:solidFill>
              <a:srgbClr val="22A6D6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8686800" y="4160520"/>
            <a:ext cx="292608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DATA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10149840" y="4636008"/>
            <a:ext cx="0" cy="192024"/>
          </a:xfrm>
          <a:prstGeom prst="line">
            <a:avLst/>
          </a:prstGeom>
          <a:noFill/>
          <a:ln w="15875">
            <a:solidFill>
              <a:srgbClr val="7A8A9A"/>
            </a:solidFill>
            <a:prstDash val="solid"/>
            <a:tailEnd type="triangle"/>
          </a:ln>
        </p:spPr>
      </p:sp>
      <p:sp>
        <p:nvSpPr>
          <p:cNvPr id="59" name="Shape 57"/>
          <p:cNvSpPr/>
          <p:nvPr/>
        </p:nvSpPr>
        <p:spPr>
          <a:xfrm>
            <a:off x="8686800" y="4846320"/>
            <a:ext cx="292608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5875">
            <a:solidFill>
              <a:srgbClr val="1BA784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8686800" y="4846320"/>
            <a:ext cx="292608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READY</a:t>
            </a:r>
            <a:endParaRPr lang="en-US" sz="1200" dirty="0"/>
          </a:p>
        </p:txBody>
      </p:sp>
      <p:sp>
        <p:nvSpPr>
          <p:cNvPr id="61" name="Shape 59"/>
          <p:cNvSpPr/>
          <p:nvPr/>
        </p:nvSpPr>
        <p:spPr>
          <a:xfrm>
            <a:off x="548640" y="5943600"/>
            <a:ext cx="11091672" cy="411480"/>
          </a:xfrm>
          <a:prstGeom prst="roundRect">
            <a:avLst>
              <a:gd name="adj" fmla="val 22222"/>
            </a:avLst>
          </a:prstGeom>
          <a:solidFill>
            <a:srgbClr val="E8F3FA"/>
          </a:solidFill>
          <a:ln w="12700">
            <a:solidFill>
              <a:srgbClr val="E8F3FA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731520" y="5943600"/>
            <a:ext cx="10725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7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explanation:  </a:t>
            </a:r>
            <a:pPr indent="0" marL="0">
              <a:buNone/>
            </a:pPr>
            <a:r>
              <a:rPr lang="en-US" sz="1300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prepares and cleans the data before the dashboard ever uses it.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F7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|  FEATURES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dashboard features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COVID-19 Data Visualization Dashboard  |  BCA 5th Semester Minor Project  |  Sigma University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091672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2679192" cy="1033272"/>
          </a:xfrm>
          <a:prstGeom prst="roundRect">
            <a:avLst>
              <a:gd name="adj" fmla="val 8850"/>
            </a:avLst>
          </a:prstGeom>
          <a:solidFill>
            <a:srgbClr val="FFFFFF"/>
          </a:solidFill>
          <a:ln w="9525">
            <a:solidFill>
              <a:srgbClr val="D9E4EC"/>
            </a:solidFill>
            <a:prstDash val="solid"/>
          </a:ln>
          <a:effectLst>
            <a:outerShdw sx="100000" sy="100000" kx="0" ky="0" algn="bl" rotWithShape="0" blurRad="101600" dist="25400" dir="5400000">
              <a:srgbClr val="0F2A4A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85800" y="1664208"/>
            <a:ext cx="457200" cy="457200"/>
          </a:xfrm>
          <a:prstGeom prst="ellipse">
            <a:avLst/>
          </a:prstGeom>
          <a:solidFill>
            <a:srgbClr val="E8F3FA"/>
          </a:solidFill>
          <a:ln w="12700">
            <a:solidFill>
              <a:srgbClr val="E8F3FA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" y="1778508"/>
            <a:ext cx="228600" cy="22860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280160" y="155448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cards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1280160" y="1847088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 numbers at a glance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355848" y="1371600"/>
            <a:ext cx="2679192" cy="1033272"/>
          </a:xfrm>
          <a:prstGeom prst="roundRect">
            <a:avLst>
              <a:gd name="adj" fmla="val 8850"/>
            </a:avLst>
          </a:prstGeom>
          <a:solidFill>
            <a:srgbClr val="FFFFFF"/>
          </a:solidFill>
          <a:ln w="9525">
            <a:solidFill>
              <a:srgbClr val="D9E4EC"/>
            </a:solidFill>
            <a:prstDash val="solid"/>
          </a:ln>
          <a:effectLst>
            <a:outerShdw sx="100000" sy="100000" kx="0" ky="0" algn="bl" rotWithShape="0" blurRad="101600" dist="25400" dir="5400000">
              <a:srgbClr val="0F2A4A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493008" y="1664208"/>
            <a:ext cx="457200" cy="457200"/>
          </a:xfrm>
          <a:prstGeom prst="ellipse">
            <a:avLst/>
          </a:prstGeom>
          <a:solidFill>
            <a:srgbClr val="E8F3FA"/>
          </a:solidFill>
          <a:ln w="12700">
            <a:solidFill>
              <a:srgbClr val="E8F3FA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7308" y="1778508"/>
            <a:ext cx="228600" cy="22860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4087368" y="155448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filters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4087368" y="1847088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Year, state and metric selectors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6163056" y="1371600"/>
            <a:ext cx="2679192" cy="1033272"/>
          </a:xfrm>
          <a:prstGeom prst="roundRect">
            <a:avLst>
              <a:gd name="adj" fmla="val 8850"/>
            </a:avLst>
          </a:prstGeom>
          <a:solidFill>
            <a:srgbClr val="FFFFFF"/>
          </a:solidFill>
          <a:ln w="9525">
            <a:solidFill>
              <a:srgbClr val="D9E4EC"/>
            </a:solidFill>
            <a:prstDash val="solid"/>
          </a:ln>
          <a:effectLst>
            <a:outerShdw sx="100000" sy="100000" kx="0" ky="0" algn="bl" rotWithShape="0" blurRad="101600" dist="25400" dir="5400000">
              <a:srgbClr val="0F2A4A">
                <a:alpha val="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300216" y="1664208"/>
            <a:ext cx="457200" cy="457200"/>
          </a:xfrm>
          <a:prstGeom prst="ellipse">
            <a:avLst/>
          </a:prstGeom>
          <a:solidFill>
            <a:srgbClr val="E8F3FA"/>
          </a:solidFill>
          <a:ln w="12700">
            <a:solidFill>
              <a:srgbClr val="E8F3FA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4516" y="1778508"/>
            <a:ext cx="228600" cy="22860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6894576" y="155448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Year-wise analysis</a:t>
            </a:r>
            <a:endParaRPr lang="en-US" sz="1300" dirty="0"/>
          </a:p>
        </p:txBody>
      </p:sp>
      <p:sp>
        <p:nvSpPr>
          <p:cNvPr id="20" name="Text 15"/>
          <p:cNvSpPr txBox="1"/>
          <p:nvPr/>
        </p:nvSpPr>
        <p:spPr>
          <a:xfrm>
            <a:off x="6894576" y="1847088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2020, 2021, 2022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8970264" y="1371600"/>
            <a:ext cx="2679192" cy="1033272"/>
          </a:xfrm>
          <a:prstGeom prst="roundRect">
            <a:avLst>
              <a:gd name="adj" fmla="val 8850"/>
            </a:avLst>
          </a:prstGeom>
          <a:solidFill>
            <a:srgbClr val="FFFFFF"/>
          </a:solidFill>
          <a:ln w="9525">
            <a:solidFill>
              <a:srgbClr val="D9E4EC"/>
            </a:solidFill>
            <a:prstDash val="solid"/>
          </a:ln>
          <a:effectLst>
            <a:outerShdw sx="100000" sy="100000" kx="0" ky="0" algn="bl" rotWithShape="0" blurRad="101600" dist="25400" dir="5400000">
              <a:srgbClr val="0F2A4A">
                <a:alpha val="8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9107424" y="1664208"/>
            <a:ext cx="457200" cy="457200"/>
          </a:xfrm>
          <a:prstGeom prst="ellipse">
            <a:avLst/>
          </a:prstGeom>
          <a:solidFill>
            <a:srgbClr val="E8F3FA"/>
          </a:solidFill>
          <a:ln w="12700">
            <a:solidFill>
              <a:srgbClr val="E8F3FA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21724" y="1778508"/>
            <a:ext cx="228600" cy="22860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9701784" y="155448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State-wise analysis</a:t>
            </a:r>
            <a:endParaRPr lang="en-US" sz="1300" dirty="0"/>
          </a:p>
        </p:txBody>
      </p:sp>
      <p:sp>
        <p:nvSpPr>
          <p:cNvPr id="25" name="Text 19"/>
          <p:cNvSpPr txBox="1"/>
          <p:nvPr/>
        </p:nvSpPr>
        <p:spPr>
          <a:xfrm>
            <a:off x="9701784" y="1847088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and explore states / UTs</a:t>
            </a:r>
            <a:endParaRPr lang="en-US" sz="1050" dirty="0"/>
          </a:p>
        </p:txBody>
      </p:sp>
      <p:sp>
        <p:nvSpPr>
          <p:cNvPr id="26" name="Shape 20"/>
          <p:cNvSpPr/>
          <p:nvPr/>
        </p:nvSpPr>
        <p:spPr>
          <a:xfrm>
            <a:off x="548640" y="2532888"/>
            <a:ext cx="2679192" cy="1033272"/>
          </a:xfrm>
          <a:prstGeom prst="roundRect">
            <a:avLst>
              <a:gd name="adj" fmla="val 8850"/>
            </a:avLst>
          </a:prstGeom>
          <a:solidFill>
            <a:srgbClr val="FFFFFF"/>
          </a:solidFill>
          <a:ln w="9525">
            <a:solidFill>
              <a:srgbClr val="D9E4EC"/>
            </a:solidFill>
            <a:prstDash val="solid"/>
          </a:ln>
          <a:effectLst>
            <a:outerShdw sx="100000" sy="100000" kx="0" ky="0" algn="bl" rotWithShape="0" blurRad="101600" dist="25400" dir="5400000">
              <a:srgbClr val="0F2A4A">
                <a:alpha val="8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685800" y="2825496"/>
            <a:ext cx="457200" cy="457200"/>
          </a:xfrm>
          <a:prstGeom prst="ellipse">
            <a:avLst/>
          </a:prstGeom>
          <a:solidFill>
            <a:srgbClr val="E8F3FA"/>
          </a:solidFill>
          <a:ln w="12700">
            <a:solidFill>
              <a:srgbClr val="E8F3FA"/>
            </a:solidFill>
            <a:prstDash val="solid"/>
          </a:ln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0100" y="2939796"/>
            <a:ext cx="228600" cy="228600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1280160" y="2715768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India map</a:t>
            </a:r>
            <a:endParaRPr lang="en-US" sz="1300" dirty="0"/>
          </a:p>
        </p:txBody>
      </p:sp>
      <p:sp>
        <p:nvSpPr>
          <p:cNvPr id="30" name="Text 23"/>
          <p:cNvSpPr txBox="1"/>
          <p:nvPr/>
        </p:nvSpPr>
        <p:spPr>
          <a:xfrm>
            <a:off x="1280160" y="3008376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Colour shows state-level values</a:t>
            </a:r>
            <a:endParaRPr lang="en-US" sz="1050" dirty="0"/>
          </a:p>
        </p:txBody>
      </p:sp>
      <p:sp>
        <p:nvSpPr>
          <p:cNvPr id="31" name="Shape 24"/>
          <p:cNvSpPr/>
          <p:nvPr/>
        </p:nvSpPr>
        <p:spPr>
          <a:xfrm>
            <a:off x="3355848" y="2532888"/>
            <a:ext cx="2679192" cy="1033272"/>
          </a:xfrm>
          <a:prstGeom prst="roundRect">
            <a:avLst>
              <a:gd name="adj" fmla="val 8850"/>
            </a:avLst>
          </a:prstGeom>
          <a:solidFill>
            <a:srgbClr val="FFFFFF"/>
          </a:solidFill>
          <a:ln w="9525">
            <a:solidFill>
              <a:srgbClr val="D9E4EC"/>
            </a:solidFill>
            <a:prstDash val="solid"/>
          </a:ln>
          <a:effectLst>
            <a:outerShdw sx="100000" sy="100000" kx="0" ky="0" algn="bl" rotWithShape="0" blurRad="101600" dist="25400" dir="5400000">
              <a:srgbClr val="0F2A4A">
                <a:alpha val="8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3493008" y="2825496"/>
            <a:ext cx="457200" cy="457200"/>
          </a:xfrm>
          <a:prstGeom prst="ellipse">
            <a:avLst/>
          </a:prstGeom>
          <a:solidFill>
            <a:srgbClr val="E8F3FA"/>
          </a:solidFill>
          <a:ln w="12700">
            <a:solidFill>
              <a:srgbClr val="E8F3FA"/>
            </a:solidFill>
            <a:prstDash val="solid"/>
          </a:ln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07308" y="2939796"/>
            <a:ext cx="228600" cy="228600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4087368" y="2715768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charts</a:t>
            </a:r>
            <a:endParaRPr lang="en-US" sz="1300" dirty="0"/>
          </a:p>
        </p:txBody>
      </p:sp>
      <p:sp>
        <p:nvSpPr>
          <p:cNvPr id="35" name="Text 27"/>
          <p:cNvSpPr txBox="1"/>
          <p:nvPr/>
        </p:nvSpPr>
        <p:spPr>
          <a:xfrm>
            <a:off x="4087368" y="3008376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with every selection</a:t>
            </a:r>
            <a:endParaRPr lang="en-US" sz="1050" dirty="0"/>
          </a:p>
        </p:txBody>
      </p:sp>
      <p:sp>
        <p:nvSpPr>
          <p:cNvPr id="36" name="Shape 28"/>
          <p:cNvSpPr/>
          <p:nvPr/>
        </p:nvSpPr>
        <p:spPr>
          <a:xfrm>
            <a:off x="6163056" y="2532888"/>
            <a:ext cx="2679192" cy="1033272"/>
          </a:xfrm>
          <a:prstGeom prst="roundRect">
            <a:avLst>
              <a:gd name="adj" fmla="val 8850"/>
            </a:avLst>
          </a:prstGeom>
          <a:solidFill>
            <a:srgbClr val="FFFFFF"/>
          </a:solidFill>
          <a:ln w="9525">
            <a:solidFill>
              <a:srgbClr val="D9E4EC"/>
            </a:solidFill>
            <a:prstDash val="solid"/>
          </a:ln>
          <a:effectLst>
            <a:outerShdw sx="100000" sy="100000" kx="0" ky="0" algn="bl" rotWithShape="0" blurRad="101600" dist="25400" dir="5400000">
              <a:srgbClr val="0F2A4A">
                <a:alpha val="8000"/>
              </a:srgbClr>
            </a:outerShdw>
          </a:effectLst>
        </p:spPr>
      </p:sp>
      <p:sp>
        <p:nvSpPr>
          <p:cNvPr id="37" name="Shape 29"/>
          <p:cNvSpPr/>
          <p:nvPr/>
        </p:nvSpPr>
        <p:spPr>
          <a:xfrm>
            <a:off x="6300216" y="2825496"/>
            <a:ext cx="457200" cy="457200"/>
          </a:xfrm>
          <a:prstGeom prst="ellipse">
            <a:avLst/>
          </a:prstGeom>
          <a:solidFill>
            <a:srgbClr val="E8F3FA"/>
          </a:solidFill>
          <a:ln w="12700">
            <a:solidFill>
              <a:srgbClr val="E8F3FA"/>
            </a:solidFill>
            <a:prstDash val="solid"/>
          </a:ln>
        </p:spPr>
      </p:sp>
      <p:pic>
        <p:nvPicPr>
          <p:cNvPr id="3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14516" y="2939796"/>
            <a:ext cx="228600" cy="228600"/>
          </a:xfrm>
          <a:prstGeom prst="rect">
            <a:avLst/>
          </a:prstGeom>
        </p:spPr>
      </p:pic>
      <p:sp>
        <p:nvSpPr>
          <p:cNvPr id="39" name="Text 30"/>
          <p:cNvSpPr txBox="1"/>
          <p:nvPr/>
        </p:nvSpPr>
        <p:spPr>
          <a:xfrm>
            <a:off x="6894576" y="2715768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Vaccination analysis</a:t>
            </a:r>
            <a:endParaRPr lang="en-US" sz="1300" dirty="0"/>
          </a:p>
        </p:txBody>
      </p:sp>
      <p:sp>
        <p:nvSpPr>
          <p:cNvPr id="40" name="Text 31"/>
          <p:cNvSpPr txBox="1"/>
          <p:nvPr/>
        </p:nvSpPr>
        <p:spPr>
          <a:xfrm>
            <a:off x="6894576" y="3008376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Doses per year and cumulative</a:t>
            </a:r>
            <a:endParaRPr lang="en-US" sz="1050" dirty="0"/>
          </a:p>
        </p:txBody>
      </p:sp>
      <p:sp>
        <p:nvSpPr>
          <p:cNvPr id="41" name="Shape 32"/>
          <p:cNvSpPr/>
          <p:nvPr/>
        </p:nvSpPr>
        <p:spPr>
          <a:xfrm>
            <a:off x="8970264" y="2532888"/>
            <a:ext cx="2679192" cy="1033272"/>
          </a:xfrm>
          <a:prstGeom prst="roundRect">
            <a:avLst>
              <a:gd name="adj" fmla="val 8850"/>
            </a:avLst>
          </a:prstGeom>
          <a:solidFill>
            <a:srgbClr val="FFFFFF"/>
          </a:solidFill>
          <a:ln w="9525">
            <a:solidFill>
              <a:srgbClr val="D9E4EC"/>
            </a:solidFill>
            <a:prstDash val="solid"/>
          </a:ln>
          <a:effectLst>
            <a:outerShdw sx="100000" sy="100000" kx="0" ky="0" algn="bl" rotWithShape="0" blurRad="101600" dist="25400" dir="5400000">
              <a:srgbClr val="0F2A4A">
                <a:alpha val="8000"/>
              </a:srgbClr>
            </a:outerShdw>
          </a:effectLst>
        </p:spPr>
      </p:sp>
      <p:sp>
        <p:nvSpPr>
          <p:cNvPr id="42" name="Shape 33"/>
          <p:cNvSpPr/>
          <p:nvPr/>
        </p:nvSpPr>
        <p:spPr>
          <a:xfrm>
            <a:off x="9107424" y="2825496"/>
            <a:ext cx="457200" cy="457200"/>
          </a:xfrm>
          <a:prstGeom prst="ellipse">
            <a:avLst/>
          </a:prstGeom>
          <a:solidFill>
            <a:srgbClr val="E8F3FA"/>
          </a:solidFill>
          <a:ln w="12700">
            <a:solidFill>
              <a:srgbClr val="E8F3FA"/>
            </a:solidFill>
            <a:prstDash val="solid"/>
          </a:ln>
        </p:spPr>
      </p:sp>
      <p:pic>
        <p:nvPicPr>
          <p:cNvPr id="4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21724" y="2939796"/>
            <a:ext cx="228600" cy="228600"/>
          </a:xfrm>
          <a:prstGeom prst="rect">
            <a:avLst/>
          </a:prstGeom>
        </p:spPr>
      </p:pic>
      <p:sp>
        <p:nvSpPr>
          <p:cNvPr id="44" name="Text 34"/>
          <p:cNvSpPr txBox="1"/>
          <p:nvPr/>
        </p:nvSpPr>
        <p:spPr>
          <a:xfrm>
            <a:off x="9701784" y="2715768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 analysis</a:t>
            </a:r>
            <a:endParaRPr lang="en-US" sz="1300" dirty="0"/>
          </a:p>
        </p:txBody>
      </p:sp>
      <p:sp>
        <p:nvSpPr>
          <p:cNvPr id="45" name="Text 35"/>
          <p:cNvSpPr txBox="1"/>
          <p:nvPr/>
        </p:nvSpPr>
        <p:spPr>
          <a:xfrm>
            <a:off x="9701784" y="3008376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Recovered, deaths, active</a:t>
            </a:r>
            <a:endParaRPr lang="en-US" sz="1050" dirty="0"/>
          </a:p>
        </p:txBody>
      </p:sp>
      <p:sp>
        <p:nvSpPr>
          <p:cNvPr id="46" name="Shape 36"/>
          <p:cNvSpPr/>
          <p:nvPr/>
        </p:nvSpPr>
        <p:spPr>
          <a:xfrm>
            <a:off x="548640" y="3694176"/>
            <a:ext cx="2679192" cy="1033272"/>
          </a:xfrm>
          <a:prstGeom prst="roundRect">
            <a:avLst>
              <a:gd name="adj" fmla="val 8850"/>
            </a:avLst>
          </a:prstGeom>
          <a:solidFill>
            <a:srgbClr val="FFFFFF"/>
          </a:solidFill>
          <a:ln w="9525">
            <a:solidFill>
              <a:srgbClr val="D9E4EC"/>
            </a:solidFill>
            <a:prstDash val="solid"/>
          </a:ln>
          <a:effectLst>
            <a:outerShdw sx="100000" sy="100000" kx="0" ky="0" algn="bl" rotWithShape="0" blurRad="101600" dist="25400" dir="5400000">
              <a:srgbClr val="0F2A4A">
                <a:alpha val="8000"/>
              </a:srgbClr>
            </a:outerShdw>
          </a:effectLst>
        </p:spPr>
      </p:sp>
      <p:sp>
        <p:nvSpPr>
          <p:cNvPr id="47" name="Shape 37"/>
          <p:cNvSpPr/>
          <p:nvPr/>
        </p:nvSpPr>
        <p:spPr>
          <a:xfrm>
            <a:off x="685800" y="3986784"/>
            <a:ext cx="457200" cy="457200"/>
          </a:xfrm>
          <a:prstGeom prst="ellipse">
            <a:avLst/>
          </a:prstGeom>
          <a:solidFill>
            <a:srgbClr val="E8F3FA"/>
          </a:solidFill>
          <a:ln w="12700">
            <a:solidFill>
              <a:srgbClr val="E8F3FA"/>
            </a:solidFill>
            <a:prstDash val="solid"/>
          </a:ln>
        </p:spPr>
      </p:sp>
      <p:pic>
        <p:nvPicPr>
          <p:cNvPr id="4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0100" y="4101084"/>
            <a:ext cx="228600" cy="228600"/>
          </a:xfrm>
          <a:prstGeom prst="rect">
            <a:avLst/>
          </a:prstGeom>
        </p:spPr>
      </p:pic>
      <p:sp>
        <p:nvSpPr>
          <p:cNvPr id="49" name="Text 38"/>
          <p:cNvSpPr txBox="1"/>
          <p:nvPr/>
        </p:nvSpPr>
        <p:spPr>
          <a:xfrm>
            <a:off x="1280160" y="3877056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deep dive</a:t>
            </a:r>
            <a:endParaRPr lang="en-US" sz="1300" dirty="0"/>
          </a:p>
        </p:txBody>
      </p:sp>
      <p:sp>
        <p:nvSpPr>
          <p:cNvPr id="50" name="Text 39"/>
          <p:cNvSpPr txBox="1"/>
          <p:nvPr/>
        </p:nvSpPr>
        <p:spPr>
          <a:xfrm>
            <a:off x="1280160" y="4169664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state in full detail</a:t>
            </a:r>
            <a:endParaRPr lang="en-US" sz="1050" dirty="0"/>
          </a:p>
        </p:txBody>
      </p:sp>
      <p:sp>
        <p:nvSpPr>
          <p:cNvPr id="51" name="Shape 40"/>
          <p:cNvSpPr/>
          <p:nvPr/>
        </p:nvSpPr>
        <p:spPr>
          <a:xfrm>
            <a:off x="3355848" y="3694176"/>
            <a:ext cx="2679192" cy="1033272"/>
          </a:xfrm>
          <a:prstGeom prst="roundRect">
            <a:avLst>
              <a:gd name="adj" fmla="val 8850"/>
            </a:avLst>
          </a:prstGeom>
          <a:solidFill>
            <a:srgbClr val="FFFFFF"/>
          </a:solidFill>
          <a:ln w="9525">
            <a:solidFill>
              <a:srgbClr val="D9E4EC"/>
            </a:solidFill>
            <a:prstDash val="solid"/>
          </a:ln>
          <a:effectLst>
            <a:outerShdw sx="100000" sy="100000" kx="0" ky="0" algn="bl" rotWithShape="0" blurRad="101600" dist="25400" dir="5400000">
              <a:srgbClr val="0F2A4A">
                <a:alpha val="8000"/>
              </a:srgbClr>
            </a:outerShdw>
          </a:effectLst>
        </p:spPr>
      </p:sp>
      <p:sp>
        <p:nvSpPr>
          <p:cNvPr id="52" name="Shape 41"/>
          <p:cNvSpPr/>
          <p:nvPr/>
        </p:nvSpPr>
        <p:spPr>
          <a:xfrm>
            <a:off x="3493008" y="3986784"/>
            <a:ext cx="457200" cy="457200"/>
          </a:xfrm>
          <a:prstGeom prst="ellipse">
            <a:avLst/>
          </a:prstGeom>
          <a:solidFill>
            <a:srgbClr val="E8F3FA"/>
          </a:solidFill>
          <a:ln w="12700">
            <a:solidFill>
              <a:srgbClr val="E8F3FA"/>
            </a:solidFill>
            <a:prstDash val="solid"/>
          </a:ln>
        </p:spPr>
      </p:sp>
      <p:pic>
        <p:nvPicPr>
          <p:cNvPr id="53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607308" y="4101084"/>
            <a:ext cx="228600" cy="228600"/>
          </a:xfrm>
          <a:prstGeom prst="rect">
            <a:avLst/>
          </a:prstGeom>
        </p:spPr>
      </p:pic>
      <p:sp>
        <p:nvSpPr>
          <p:cNvPr id="54" name="Text 42"/>
          <p:cNvSpPr txBox="1"/>
          <p:nvPr/>
        </p:nvSpPr>
        <p:spPr>
          <a:xfrm>
            <a:off x="4087368" y="3877056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Two-state comparison</a:t>
            </a:r>
            <a:endParaRPr lang="en-US" sz="1300" dirty="0"/>
          </a:p>
        </p:txBody>
      </p:sp>
      <p:sp>
        <p:nvSpPr>
          <p:cNvPr id="55" name="Text 43"/>
          <p:cNvSpPr txBox="1"/>
          <p:nvPr/>
        </p:nvSpPr>
        <p:spPr>
          <a:xfrm>
            <a:off x="4087368" y="4169664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two states side by side</a:t>
            </a:r>
            <a:endParaRPr lang="en-US" sz="1050" dirty="0"/>
          </a:p>
        </p:txBody>
      </p:sp>
      <p:sp>
        <p:nvSpPr>
          <p:cNvPr id="56" name="Shape 44"/>
          <p:cNvSpPr/>
          <p:nvPr/>
        </p:nvSpPr>
        <p:spPr>
          <a:xfrm>
            <a:off x="6163056" y="3694176"/>
            <a:ext cx="2679192" cy="1033272"/>
          </a:xfrm>
          <a:prstGeom prst="roundRect">
            <a:avLst>
              <a:gd name="adj" fmla="val 8850"/>
            </a:avLst>
          </a:prstGeom>
          <a:solidFill>
            <a:srgbClr val="FFFFFF"/>
          </a:solidFill>
          <a:ln w="9525">
            <a:solidFill>
              <a:srgbClr val="D9E4EC"/>
            </a:solidFill>
            <a:prstDash val="solid"/>
          </a:ln>
          <a:effectLst>
            <a:outerShdw sx="100000" sy="100000" kx="0" ky="0" algn="bl" rotWithShape="0" blurRad="101600" dist="25400" dir="5400000">
              <a:srgbClr val="0F2A4A">
                <a:alpha val="8000"/>
              </a:srgbClr>
            </a:outerShdw>
          </a:effectLst>
        </p:spPr>
      </p:sp>
      <p:sp>
        <p:nvSpPr>
          <p:cNvPr id="57" name="Shape 45"/>
          <p:cNvSpPr/>
          <p:nvPr/>
        </p:nvSpPr>
        <p:spPr>
          <a:xfrm>
            <a:off x="6300216" y="3986784"/>
            <a:ext cx="457200" cy="457200"/>
          </a:xfrm>
          <a:prstGeom prst="ellipse">
            <a:avLst/>
          </a:prstGeom>
          <a:solidFill>
            <a:srgbClr val="E8F3FA"/>
          </a:solidFill>
          <a:ln w="12700">
            <a:solidFill>
              <a:srgbClr val="E8F3FA"/>
            </a:solidFill>
            <a:prstDash val="solid"/>
          </a:ln>
        </p:spPr>
      </p:sp>
      <p:pic>
        <p:nvPicPr>
          <p:cNvPr id="58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14516" y="4101084"/>
            <a:ext cx="228600" cy="228600"/>
          </a:xfrm>
          <a:prstGeom prst="rect">
            <a:avLst/>
          </a:prstGeom>
        </p:spPr>
      </p:pic>
      <p:sp>
        <p:nvSpPr>
          <p:cNvPr id="59" name="Text 46"/>
          <p:cNvSpPr txBox="1"/>
          <p:nvPr/>
        </p:nvSpPr>
        <p:spPr>
          <a:xfrm>
            <a:off x="6894576" y="3877056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/ XLSX upload</a:t>
            </a:r>
            <a:endParaRPr lang="en-US" sz="1300" dirty="0"/>
          </a:p>
        </p:txBody>
      </p:sp>
      <p:sp>
        <p:nvSpPr>
          <p:cNvPr id="60" name="Text 47"/>
          <p:cNvSpPr txBox="1"/>
          <p:nvPr/>
        </p:nvSpPr>
        <p:spPr>
          <a:xfrm>
            <a:off x="6894576" y="4169664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your own dataset</a:t>
            </a:r>
            <a:endParaRPr lang="en-US" sz="1050" dirty="0"/>
          </a:p>
        </p:txBody>
      </p:sp>
      <p:sp>
        <p:nvSpPr>
          <p:cNvPr id="61" name="Shape 48"/>
          <p:cNvSpPr/>
          <p:nvPr/>
        </p:nvSpPr>
        <p:spPr>
          <a:xfrm>
            <a:off x="8970264" y="3694176"/>
            <a:ext cx="2679192" cy="1033272"/>
          </a:xfrm>
          <a:prstGeom prst="roundRect">
            <a:avLst>
              <a:gd name="adj" fmla="val 8850"/>
            </a:avLst>
          </a:prstGeom>
          <a:solidFill>
            <a:srgbClr val="FFFFFF"/>
          </a:solidFill>
          <a:ln w="9525">
            <a:solidFill>
              <a:srgbClr val="D9E4EC"/>
            </a:solidFill>
            <a:prstDash val="solid"/>
          </a:ln>
          <a:effectLst>
            <a:outerShdw sx="100000" sy="100000" kx="0" ky="0" algn="bl" rotWithShape="0" blurRad="101600" dist="25400" dir="5400000">
              <a:srgbClr val="0F2A4A">
                <a:alpha val="8000"/>
              </a:srgbClr>
            </a:outerShdw>
          </a:effectLst>
        </p:spPr>
      </p:sp>
      <p:sp>
        <p:nvSpPr>
          <p:cNvPr id="62" name="Shape 49"/>
          <p:cNvSpPr/>
          <p:nvPr/>
        </p:nvSpPr>
        <p:spPr>
          <a:xfrm>
            <a:off x="9107424" y="3986784"/>
            <a:ext cx="457200" cy="457200"/>
          </a:xfrm>
          <a:prstGeom prst="ellipse">
            <a:avLst/>
          </a:prstGeom>
          <a:solidFill>
            <a:srgbClr val="E8F3FA"/>
          </a:solidFill>
          <a:ln w="12700">
            <a:solidFill>
              <a:srgbClr val="E8F3FA"/>
            </a:solidFill>
            <a:prstDash val="solid"/>
          </a:ln>
        </p:spPr>
      </p:sp>
      <p:pic>
        <p:nvPicPr>
          <p:cNvPr id="6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221724" y="4101084"/>
            <a:ext cx="228600" cy="228600"/>
          </a:xfrm>
          <a:prstGeom prst="rect">
            <a:avLst/>
          </a:prstGeom>
        </p:spPr>
      </p:pic>
      <p:sp>
        <p:nvSpPr>
          <p:cNvPr id="64" name="Text 50"/>
          <p:cNvSpPr txBox="1"/>
          <p:nvPr/>
        </p:nvSpPr>
        <p:spPr>
          <a:xfrm>
            <a:off x="9701784" y="3877056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insights</a:t>
            </a:r>
            <a:endParaRPr lang="en-US" sz="1300" dirty="0"/>
          </a:p>
        </p:txBody>
      </p:sp>
      <p:sp>
        <p:nvSpPr>
          <p:cNvPr id="65" name="Text 51"/>
          <p:cNvSpPr txBox="1"/>
          <p:nvPr/>
        </p:nvSpPr>
        <p:spPr>
          <a:xfrm>
            <a:off x="9701784" y="4169664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findings</a:t>
            </a:r>
            <a:endParaRPr lang="en-US" sz="1050" dirty="0"/>
          </a:p>
        </p:txBody>
      </p:sp>
      <p:sp>
        <p:nvSpPr>
          <p:cNvPr id="66" name="Shape 52"/>
          <p:cNvSpPr/>
          <p:nvPr/>
        </p:nvSpPr>
        <p:spPr>
          <a:xfrm>
            <a:off x="548640" y="4855464"/>
            <a:ext cx="2679192" cy="1033272"/>
          </a:xfrm>
          <a:prstGeom prst="roundRect">
            <a:avLst>
              <a:gd name="adj" fmla="val 8850"/>
            </a:avLst>
          </a:prstGeom>
          <a:solidFill>
            <a:srgbClr val="FFFFFF"/>
          </a:solidFill>
          <a:ln w="9525">
            <a:solidFill>
              <a:srgbClr val="D9E4EC"/>
            </a:solidFill>
            <a:prstDash val="solid"/>
          </a:ln>
          <a:effectLst>
            <a:outerShdw sx="100000" sy="100000" kx="0" ky="0" algn="bl" rotWithShape="0" blurRad="101600" dist="25400" dir="5400000">
              <a:srgbClr val="0F2A4A">
                <a:alpha val="8000"/>
              </a:srgbClr>
            </a:outerShdw>
          </a:effectLst>
        </p:spPr>
      </p:sp>
      <p:sp>
        <p:nvSpPr>
          <p:cNvPr id="67" name="Shape 53"/>
          <p:cNvSpPr/>
          <p:nvPr/>
        </p:nvSpPr>
        <p:spPr>
          <a:xfrm>
            <a:off x="685800" y="5148072"/>
            <a:ext cx="457200" cy="457200"/>
          </a:xfrm>
          <a:prstGeom prst="ellipse">
            <a:avLst/>
          </a:prstGeom>
          <a:solidFill>
            <a:srgbClr val="E8F3FA"/>
          </a:solidFill>
          <a:ln w="12700">
            <a:solidFill>
              <a:srgbClr val="E8F3FA"/>
            </a:solidFill>
            <a:prstDash val="solid"/>
          </a:ln>
        </p:spPr>
      </p:sp>
      <p:pic>
        <p:nvPicPr>
          <p:cNvPr id="68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0100" y="5262372"/>
            <a:ext cx="228600" cy="228600"/>
          </a:xfrm>
          <a:prstGeom prst="rect">
            <a:avLst/>
          </a:prstGeom>
        </p:spPr>
      </p:pic>
      <p:sp>
        <p:nvSpPr>
          <p:cNvPr id="69" name="Text 54"/>
          <p:cNvSpPr txBox="1"/>
          <p:nvPr/>
        </p:nvSpPr>
        <p:spPr>
          <a:xfrm>
            <a:off x="1280160" y="5038344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Searchable data grid</a:t>
            </a:r>
            <a:endParaRPr lang="en-US" sz="1300" dirty="0"/>
          </a:p>
        </p:txBody>
      </p:sp>
      <p:sp>
        <p:nvSpPr>
          <p:cNvPr id="70" name="Text 55"/>
          <p:cNvSpPr txBox="1"/>
          <p:nvPr/>
        </p:nvSpPr>
        <p:spPr>
          <a:xfrm>
            <a:off x="1280160" y="5330952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Sort, search, export view</a:t>
            </a:r>
            <a:endParaRPr lang="en-US" sz="1050" dirty="0"/>
          </a:p>
        </p:txBody>
      </p:sp>
      <p:sp>
        <p:nvSpPr>
          <p:cNvPr id="71" name="Shape 56"/>
          <p:cNvSpPr/>
          <p:nvPr/>
        </p:nvSpPr>
        <p:spPr>
          <a:xfrm>
            <a:off x="3355848" y="4855464"/>
            <a:ext cx="2679192" cy="1033272"/>
          </a:xfrm>
          <a:prstGeom prst="roundRect">
            <a:avLst>
              <a:gd name="adj" fmla="val 8850"/>
            </a:avLst>
          </a:prstGeom>
          <a:solidFill>
            <a:srgbClr val="FFFFFF"/>
          </a:solidFill>
          <a:ln w="9525">
            <a:solidFill>
              <a:srgbClr val="D9E4EC"/>
            </a:solidFill>
            <a:prstDash val="solid"/>
          </a:ln>
          <a:effectLst>
            <a:outerShdw sx="100000" sy="100000" kx="0" ky="0" algn="bl" rotWithShape="0" blurRad="101600" dist="25400" dir="5400000">
              <a:srgbClr val="0F2A4A">
                <a:alpha val="8000"/>
              </a:srgbClr>
            </a:outerShdw>
          </a:effectLst>
        </p:spPr>
      </p:sp>
      <p:sp>
        <p:nvSpPr>
          <p:cNvPr id="72" name="Shape 57"/>
          <p:cNvSpPr/>
          <p:nvPr/>
        </p:nvSpPr>
        <p:spPr>
          <a:xfrm>
            <a:off x="3493008" y="5148072"/>
            <a:ext cx="457200" cy="457200"/>
          </a:xfrm>
          <a:prstGeom prst="ellipse">
            <a:avLst/>
          </a:prstGeom>
          <a:solidFill>
            <a:srgbClr val="E8F3FA"/>
          </a:solidFill>
          <a:ln w="12700">
            <a:solidFill>
              <a:srgbClr val="E8F3FA"/>
            </a:solidFill>
            <a:prstDash val="solid"/>
          </a:ln>
        </p:spPr>
      </p:sp>
      <p:pic>
        <p:nvPicPr>
          <p:cNvPr id="73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607308" y="5262372"/>
            <a:ext cx="228600" cy="228600"/>
          </a:xfrm>
          <a:prstGeom prst="rect">
            <a:avLst/>
          </a:prstGeom>
        </p:spPr>
      </p:pic>
      <p:sp>
        <p:nvSpPr>
          <p:cNvPr id="74" name="Text 58"/>
          <p:cNvSpPr txBox="1"/>
          <p:nvPr/>
        </p:nvSpPr>
        <p:spPr>
          <a:xfrm>
            <a:off x="4087368" y="5038344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interface</a:t>
            </a:r>
            <a:endParaRPr lang="en-US" sz="1300" dirty="0"/>
          </a:p>
        </p:txBody>
      </p:sp>
      <p:sp>
        <p:nvSpPr>
          <p:cNvPr id="75" name="Text 59"/>
          <p:cNvSpPr txBox="1"/>
          <p:nvPr/>
        </p:nvSpPr>
        <p:spPr>
          <a:xfrm>
            <a:off x="4087368" y="5330952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across screen sizes</a:t>
            </a:r>
            <a:endParaRPr lang="en-US" sz="1050" dirty="0"/>
          </a:p>
        </p:txBody>
      </p:sp>
      <p:sp>
        <p:nvSpPr>
          <p:cNvPr id="76" name="Shape 60"/>
          <p:cNvSpPr/>
          <p:nvPr/>
        </p:nvSpPr>
        <p:spPr>
          <a:xfrm>
            <a:off x="6163056" y="4855464"/>
            <a:ext cx="2679192" cy="1033272"/>
          </a:xfrm>
          <a:prstGeom prst="roundRect">
            <a:avLst>
              <a:gd name="adj" fmla="val 8850"/>
            </a:avLst>
          </a:prstGeom>
          <a:solidFill>
            <a:srgbClr val="FFFFFF"/>
          </a:solidFill>
          <a:ln w="9525">
            <a:solidFill>
              <a:srgbClr val="D9E4EC"/>
            </a:solidFill>
            <a:prstDash val="solid"/>
          </a:ln>
          <a:effectLst>
            <a:outerShdw sx="100000" sy="100000" kx="0" ky="0" algn="bl" rotWithShape="0" blurRad="101600" dist="25400" dir="5400000">
              <a:srgbClr val="0F2A4A">
                <a:alpha val="8000"/>
              </a:srgbClr>
            </a:outerShdw>
          </a:effectLst>
        </p:spPr>
      </p:sp>
      <p:sp>
        <p:nvSpPr>
          <p:cNvPr id="77" name="Shape 61"/>
          <p:cNvSpPr/>
          <p:nvPr/>
        </p:nvSpPr>
        <p:spPr>
          <a:xfrm>
            <a:off x="6300216" y="5148072"/>
            <a:ext cx="457200" cy="457200"/>
          </a:xfrm>
          <a:prstGeom prst="ellipse">
            <a:avLst/>
          </a:prstGeom>
          <a:solidFill>
            <a:srgbClr val="E8F3FA"/>
          </a:solidFill>
          <a:ln w="12700">
            <a:solidFill>
              <a:srgbClr val="E8F3FA"/>
            </a:solidFill>
            <a:prstDash val="solid"/>
          </a:ln>
        </p:spPr>
      </p:sp>
      <p:pic>
        <p:nvPicPr>
          <p:cNvPr id="78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14516" y="5262372"/>
            <a:ext cx="228600" cy="228600"/>
          </a:xfrm>
          <a:prstGeom prst="rect">
            <a:avLst/>
          </a:prstGeom>
        </p:spPr>
      </p:pic>
      <p:sp>
        <p:nvSpPr>
          <p:cNvPr id="79" name="Text 62"/>
          <p:cNvSpPr txBox="1"/>
          <p:nvPr/>
        </p:nvSpPr>
        <p:spPr>
          <a:xfrm>
            <a:off x="6894576" y="5038344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/ dark theme</a:t>
            </a:r>
            <a:endParaRPr lang="en-US" sz="1300" dirty="0"/>
          </a:p>
        </p:txBody>
      </p:sp>
      <p:sp>
        <p:nvSpPr>
          <p:cNvPr id="80" name="Text 63"/>
          <p:cNvSpPr txBox="1"/>
          <p:nvPr/>
        </p:nvSpPr>
        <p:spPr>
          <a:xfrm>
            <a:off x="6894576" y="5330952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theme in one click</a:t>
            </a:r>
            <a:endParaRPr lang="en-US" sz="1050" dirty="0"/>
          </a:p>
        </p:txBody>
      </p:sp>
      <p:sp>
        <p:nvSpPr>
          <p:cNvPr id="81" name="Shape 64"/>
          <p:cNvSpPr/>
          <p:nvPr/>
        </p:nvSpPr>
        <p:spPr>
          <a:xfrm>
            <a:off x="8970264" y="4855464"/>
            <a:ext cx="2679192" cy="1033272"/>
          </a:xfrm>
          <a:prstGeom prst="roundRect">
            <a:avLst>
              <a:gd name="adj" fmla="val 8850"/>
            </a:avLst>
          </a:prstGeom>
          <a:solidFill>
            <a:srgbClr val="FFFFFF"/>
          </a:solidFill>
          <a:ln w="9525">
            <a:solidFill>
              <a:srgbClr val="D9E4EC"/>
            </a:solidFill>
            <a:prstDash val="solid"/>
          </a:ln>
          <a:effectLst>
            <a:outerShdw sx="100000" sy="100000" kx="0" ky="0" algn="bl" rotWithShape="0" blurRad="101600" dist="25400" dir="5400000">
              <a:srgbClr val="0F2A4A">
                <a:alpha val="8000"/>
              </a:srgbClr>
            </a:outerShdw>
          </a:effectLst>
        </p:spPr>
      </p:sp>
      <p:sp>
        <p:nvSpPr>
          <p:cNvPr id="82" name="Shape 65"/>
          <p:cNvSpPr/>
          <p:nvPr/>
        </p:nvSpPr>
        <p:spPr>
          <a:xfrm>
            <a:off x="9107424" y="5148072"/>
            <a:ext cx="457200" cy="457200"/>
          </a:xfrm>
          <a:prstGeom prst="ellipse">
            <a:avLst/>
          </a:prstGeom>
          <a:solidFill>
            <a:srgbClr val="E8F3FA"/>
          </a:solidFill>
          <a:ln w="12700">
            <a:solidFill>
              <a:srgbClr val="E8F3FA"/>
            </a:solidFill>
            <a:prstDash val="solid"/>
          </a:ln>
        </p:spPr>
      </p:sp>
      <p:pic>
        <p:nvPicPr>
          <p:cNvPr id="83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221724" y="5262372"/>
            <a:ext cx="228600" cy="228600"/>
          </a:xfrm>
          <a:prstGeom prst="rect">
            <a:avLst/>
          </a:prstGeom>
        </p:spPr>
      </p:pic>
      <p:sp>
        <p:nvSpPr>
          <p:cNvPr id="84" name="Text 66"/>
          <p:cNvSpPr txBox="1"/>
          <p:nvPr/>
        </p:nvSpPr>
        <p:spPr>
          <a:xfrm>
            <a:off x="9701784" y="5038344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Client-side processing</a:t>
            </a:r>
            <a:endParaRPr lang="en-US" sz="1300" dirty="0"/>
          </a:p>
        </p:txBody>
      </p:sp>
      <p:sp>
        <p:nvSpPr>
          <p:cNvPr id="85" name="Text 67"/>
          <p:cNvSpPr txBox="1"/>
          <p:nvPr/>
        </p:nvSpPr>
        <p:spPr>
          <a:xfrm>
            <a:off x="9701784" y="5330952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Uploaded files stay in the browser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F7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|  GEOGRAPHIC VISUALIZATION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geographic visualization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COVID-19 Data Visualization Dashboard  |  BCA 5th Semester Minor Project  |  Sigma University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091672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75488" y="1298448"/>
            <a:ext cx="7187184" cy="2891641"/>
          </a:xfrm>
          <a:prstGeom prst="roundRect">
            <a:avLst>
              <a:gd name="adj" fmla="val 3162"/>
            </a:avLst>
          </a:prstGeom>
          <a:solidFill>
            <a:srgbClr val="FFFFFF"/>
          </a:solidFill>
          <a:ln w="9525">
            <a:solidFill>
              <a:srgbClr val="D9E4EC"/>
            </a:solidFill>
            <a:prstDash val="solid"/>
          </a:ln>
          <a:effectLst>
            <a:outerShdw sx="100000" sy="100000" kx="0" ky="0" algn="bl" rotWithShape="0" blurRad="101600" dist="25400" dir="5400000">
              <a:srgbClr val="0F2A4A">
                <a:alpha val="8000"/>
              </a:srgbClr>
            </a:outerShdw>
          </a:effectLst>
        </p:spPr>
      </p:sp>
      <p:pic>
        <p:nvPicPr>
          <p:cNvPr id="7" name="Image 0" descr="/home/claude/img/mapc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7040880" cy="2745337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48640" y="4983480"/>
            <a:ext cx="704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interactive India state / UT map shows COVID-19 impact geographically. Built with Highmaps.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8001000" y="1371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F7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 DYNAMICALLY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8001000" y="173736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2A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 </a:t>
            </a:r>
            <a:pPr indent="0" marL="0">
              <a:buNone/>
            </a:pPr>
            <a:r>
              <a:rPr lang="en-US" sz="1300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year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8001000" y="206654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2A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 </a:t>
            </a:r>
            <a:pPr indent="0" marL="0">
              <a:buNone/>
            </a:pPr>
            <a:r>
              <a:rPr lang="en-US" sz="1300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metric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8001000" y="239572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2A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 </a:t>
            </a:r>
            <a:pPr indent="0" marL="0">
              <a:buNone/>
            </a:pPr>
            <a:r>
              <a:rPr lang="en-US" sz="1300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State-level values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8001000" y="272491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2A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 </a:t>
            </a:r>
            <a:pPr indent="0" marL="0">
              <a:buNone/>
            </a:pPr>
            <a:r>
              <a:rPr lang="en-US" sz="1300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Colour intensity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8001000" y="305409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2A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 </a:t>
            </a:r>
            <a:pPr indent="0" marL="0">
              <a:buNone/>
            </a:pPr>
            <a:r>
              <a:rPr lang="en-US" sz="1300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filters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8001000" y="3474720"/>
            <a:ext cx="3639312" cy="329184"/>
          </a:xfrm>
          <a:prstGeom prst="roundRect">
            <a:avLst>
              <a:gd name="adj" fmla="val 27778"/>
            </a:avLst>
          </a:prstGeom>
          <a:solidFill>
            <a:srgbClr val="FFFFFF"/>
          </a:solidFill>
          <a:ln w="15875">
            <a:solidFill>
              <a:srgbClr val="1F7FB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001000" y="3474720"/>
            <a:ext cx="3639312" cy="3291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METRIC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9820656" y="3822192"/>
            <a:ext cx="0" cy="82296"/>
          </a:xfrm>
          <a:prstGeom prst="line">
            <a:avLst/>
          </a:prstGeom>
          <a:noFill/>
          <a:ln w="15875">
            <a:solidFill>
              <a:srgbClr val="7A8A9A"/>
            </a:solidFill>
            <a:prstDash val="solid"/>
            <a:tailEnd type="triangle"/>
          </a:ln>
        </p:spPr>
      </p:sp>
      <p:sp>
        <p:nvSpPr>
          <p:cNvPr id="18" name="Shape 15"/>
          <p:cNvSpPr/>
          <p:nvPr/>
        </p:nvSpPr>
        <p:spPr>
          <a:xfrm>
            <a:off x="8001000" y="3922776"/>
            <a:ext cx="3639312" cy="329184"/>
          </a:xfrm>
          <a:prstGeom prst="roundRect">
            <a:avLst>
              <a:gd name="adj" fmla="val 27778"/>
            </a:avLst>
          </a:prstGeom>
          <a:solidFill>
            <a:srgbClr val="FFFFFF"/>
          </a:solidFill>
          <a:ln w="15875">
            <a:solidFill>
              <a:srgbClr val="1F7FBF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001000" y="3922776"/>
            <a:ext cx="3639312" cy="3291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YEAR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9820656" y="4270248"/>
            <a:ext cx="0" cy="82296"/>
          </a:xfrm>
          <a:prstGeom prst="line">
            <a:avLst/>
          </a:prstGeom>
          <a:noFill/>
          <a:ln w="15875">
            <a:solidFill>
              <a:srgbClr val="7A8A9A"/>
            </a:solidFill>
            <a:prstDash val="solid"/>
            <a:tailEnd type="triangle"/>
          </a:ln>
        </p:spPr>
      </p:sp>
      <p:sp>
        <p:nvSpPr>
          <p:cNvPr id="21" name="Shape 18"/>
          <p:cNvSpPr/>
          <p:nvPr/>
        </p:nvSpPr>
        <p:spPr>
          <a:xfrm>
            <a:off x="8001000" y="4370832"/>
            <a:ext cx="3639312" cy="329184"/>
          </a:xfrm>
          <a:prstGeom prst="roundRect">
            <a:avLst>
              <a:gd name="adj" fmla="val 27778"/>
            </a:avLst>
          </a:prstGeom>
          <a:solidFill>
            <a:srgbClr val="FFFFFF"/>
          </a:solidFill>
          <a:ln w="15875">
            <a:solidFill>
              <a:srgbClr val="22A6D6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8001000" y="4370832"/>
            <a:ext cx="3639312" cy="3291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UPDATES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9820656" y="4718304"/>
            <a:ext cx="0" cy="82296"/>
          </a:xfrm>
          <a:prstGeom prst="line">
            <a:avLst/>
          </a:prstGeom>
          <a:noFill/>
          <a:ln w="15875">
            <a:solidFill>
              <a:srgbClr val="7A8A9A"/>
            </a:solidFill>
            <a:prstDash val="solid"/>
            <a:tailEnd type="triangle"/>
          </a:ln>
        </p:spPr>
      </p:sp>
      <p:sp>
        <p:nvSpPr>
          <p:cNvPr id="24" name="Shape 21"/>
          <p:cNvSpPr/>
          <p:nvPr/>
        </p:nvSpPr>
        <p:spPr>
          <a:xfrm>
            <a:off x="8001000" y="4818888"/>
            <a:ext cx="3639312" cy="329184"/>
          </a:xfrm>
          <a:prstGeom prst="roundRect">
            <a:avLst>
              <a:gd name="adj" fmla="val 27778"/>
            </a:avLst>
          </a:prstGeom>
          <a:solidFill>
            <a:srgbClr val="FFFFFF"/>
          </a:solidFill>
          <a:ln w="15875">
            <a:solidFill>
              <a:srgbClr val="22A6D6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8001000" y="4818888"/>
            <a:ext cx="3639312" cy="3291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COLOURS UPDATE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9820656" y="5166360"/>
            <a:ext cx="0" cy="82296"/>
          </a:xfrm>
          <a:prstGeom prst="line">
            <a:avLst/>
          </a:prstGeom>
          <a:noFill/>
          <a:ln w="15875">
            <a:solidFill>
              <a:srgbClr val="7A8A9A"/>
            </a:solidFill>
            <a:prstDash val="solid"/>
            <a:tailEnd type="triangle"/>
          </a:ln>
        </p:spPr>
      </p:sp>
      <p:sp>
        <p:nvSpPr>
          <p:cNvPr id="27" name="Shape 24"/>
          <p:cNvSpPr/>
          <p:nvPr/>
        </p:nvSpPr>
        <p:spPr>
          <a:xfrm>
            <a:off x="8001000" y="5266944"/>
            <a:ext cx="3639312" cy="329184"/>
          </a:xfrm>
          <a:prstGeom prst="roundRect">
            <a:avLst>
              <a:gd name="adj" fmla="val 27778"/>
            </a:avLst>
          </a:prstGeom>
          <a:solidFill>
            <a:srgbClr val="FFFFFF"/>
          </a:solidFill>
          <a:ln w="15875">
            <a:solidFill>
              <a:srgbClr val="1BA784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001000" y="5266944"/>
            <a:ext cx="3639312" cy="3291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IMPACT BECOMES CLEAR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548640" y="5943600"/>
            <a:ext cx="11091672" cy="411480"/>
          </a:xfrm>
          <a:prstGeom prst="roundRect">
            <a:avLst>
              <a:gd name="adj" fmla="val 22222"/>
            </a:avLst>
          </a:prstGeom>
          <a:solidFill>
            <a:srgbClr val="E8F3FA"/>
          </a:solidFill>
          <a:ln w="12700">
            <a:solidFill>
              <a:srgbClr val="E8F3FA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731520" y="5943600"/>
            <a:ext cx="10725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7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explanation:  </a:t>
            </a:r>
            <a:pPr indent="0" marL="0">
              <a:buNone/>
            </a:pPr>
            <a:r>
              <a:rPr lang="en-US" sz="1300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choropleth map: different colours show differences between states.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F7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|  VISUAL ANALYTICS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charts &amp; visual analytics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COVID-19 Data Visualization Dashboard  |  BCA 5th Semester Minor Project  |  Sigma University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091672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75488" y="1493659"/>
            <a:ext cx="3529584" cy="1859002"/>
          </a:xfrm>
          <a:prstGeom prst="roundRect">
            <a:avLst>
              <a:gd name="adj" fmla="val 4919"/>
            </a:avLst>
          </a:prstGeom>
          <a:solidFill>
            <a:srgbClr val="FFFFFF"/>
          </a:solidFill>
          <a:ln w="9525">
            <a:solidFill>
              <a:srgbClr val="D9E4EC"/>
            </a:solidFill>
            <a:prstDash val="solid"/>
          </a:ln>
          <a:effectLst>
            <a:outerShdw sx="100000" sy="100000" kx="0" ky="0" algn="bl" rotWithShape="0" blurRad="101600" dist="25400" dir="5400000">
              <a:srgbClr val="0F2A4A">
                <a:alpha val="8000"/>
              </a:srgbClr>
            </a:outerShdw>
          </a:effectLst>
        </p:spPr>
      </p:sp>
      <p:pic>
        <p:nvPicPr>
          <p:cNvPr id="7" name="Image 0" descr="/home/claude/img/yearch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66811"/>
            <a:ext cx="3383280" cy="171269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133088" y="1584251"/>
            <a:ext cx="2157984" cy="1677817"/>
          </a:xfrm>
          <a:prstGeom prst="roundRect">
            <a:avLst>
              <a:gd name="adj" fmla="val 5450"/>
            </a:avLst>
          </a:prstGeom>
          <a:solidFill>
            <a:srgbClr val="FFFFFF"/>
          </a:solidFill>
          <a:ln w="9525">
            <a:solidFill>
              <a:srgbClr val="D9E4EC"/>
            </a:solidFill>
            <a:prstDash val="solid"/>
          </a:ln>
          <a:effectLst>
            <a:outerShdw sx="100000" sy="100000" kx="0" ky="0" algn="bl" rotWithShape="0" blurRad="101600" dist="25400" dir="5400000">
              <a:srgbClr val="0F2A4A">
                <a:alpha val="8000"/>
              </a:srgbClr>
            </a:outerShdw>
          </a:effectLst>
        </p:spPr>
      </p:sp>
      <p:pic>
        <p:nvPicPr>
          <p:cNvPr id="9" name="Image 1" descr="/home/claude/img/donu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0" y="1657403"/>
            <a:ext cx="2011680" cy="1531513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75488" y="3707901"/>
            <a:ext cx="3529584" cy="2185397"/>
          </a:xfrm>
          <a:prstGeom prst="roundRect">
            <a:avLst>
              <a:gd name="adj" fmla="val 4184"/>
            </a:avLst>
          </a:prstGeom>
          <a:solidFill>
            <a:srgbClr val="FFFFFF"/>
          </a:solidFill>
          <a:ln w="9525">
            <a:solidFill>
              <a:srgbClr val="D9E4EC"/>
            </a:solidFill>
            <a:prstDash val="solid"/>
          </a:ln>
          <a:effectLst>
            <a:outerShdw sx="100000" sy="100000" kx="0" ky="0" algn="bl" rotWithShape="0" blurRad="101600" dist="25400" dir="5400000">
              <a:srgbClr val="0F2A4A">
                <a:alpha val="8000"/>
              </a:srgbClr>
            </a:outerShdw>
          </a:effectLst>
        </p:spPr>
      </p:sp>
      <p:pic>
        <p:nvPicPr>
          <p:cNvPr id="11" name="Image 2" descr="/home/claude/img/top10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781053"/>
            <a:ext cx="3383280" cy="2039093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4133088" y="3815758"/>
            <a:ext cx="2157984" cy="1969683"/>
          </a:xfrm>
          <a:prstGeom prst="roundRect">
            <a:avLst>
              <a:gd name="adj" fmla="val 4642"/>
            </a:avLst>
          </a:prstGeom>
          <a:solidFill>
            <a:srgbClr val="FFFFFF"/>
          </a:solidFill>
          <a:ln w="9525">
            <a:solidFill>
              <a:srgbClr val="D9E4EC"/>
            </a:solidFill>
            <a:prstDash val="solid"/>
          </a:ln>
          <a:effectLst>
            <a:outerShdw sx="100000" sy="100000" kx="0" ky="0" algn="bl" rotWithShape="0" blurRad="101600" dist="25400" dir="5400000">
              <a:srgbClr val="0F2A4A">
                <a:alpha val="8000"/>
              </a:srgbClr>
            </a:outerShdw>
          </a:effectLst>
        </p:spPr>
      </p:sp>
      <p:pic>
        <p:nvPicPr>
          <p:cNvPr id="13" name="Image 3" descr="/home/claude/img/vacc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6240" y="3888910"/>
            <a:ext cx="2011680" cy="1823379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6903720" y="1371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F7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CHART ANSWERS A QUESTION</a:t>
            </a:r>
            <a:endParaRPr lang="en-US" sz="1100" dirty="0"/>
          </a:p>
        </p:txBody>
      </p:sp>
      <p:sp>
        <p:nvSpPr>
          <p:cNvPr id="15" name="Shape 9"/>
          <p:cNvSpPr/>
          <p:nvPr/>
        </p:nvSpPr>
        <p:spPr>
          <a:xfrm>
            <a:off x="6903720" y="1737360"/>
            <a:ext cx="4736592" cy="594360"/>
          </a:xfrm>
          <a:prstGeom prst="roundRect">
            <a:avLst>
              <a:gd name="adj" fmla="val 12308"/>
            </a:avLst>
          </a:prstGeom>
          <a:solidFill>
            <a:srgbClr val="F4F8FB"/>
          </a:solidFill>
          <a:ln w="9525">
            <a:solidFill>
              <a:srgbClr val="D9E4EC"/>
            </a:solidFill>
            <a:prstDash val="solid"/>
          </a:ln>
        </p:spPr>
      </p:sp>
      <p:sp>
        <p:nvSpPr>
          <p:cNvPr id="16" name="Shape 10"/>
          <p:cNvSpPr/>
          <p:nvPr/>
        </p:nvSpPr>
        <p:spPr>
          <a:xfrm>
            <a:off x="6995160" y="1810512"/>
            <a:ext cx="438912" cy="438912"/>
          </a:xfrm>
          <a:prstGeom prst="ellipse">
            <a:avLst/>
          </a:prstGeom>
          <a:solidFill>
            <a:srgbClr val="E8F3FA"/>
          </a:solidFill>
          <a:ln w="12700">
            <a:solidFill>
              <a:srgbClr val="E8F3FA"/>
            </a:solidFill>
            <a:prstDash val="solid"/>
          </a:ln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04888" y="1920240"/>
            <a:ext cx="219456" cy="219456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7543800" y="1792224"/>
            <a:ext cx="15544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chart</a:t>
            </a:r>
            <a:endParaRPr lang="en-US" sz="1250" dirty="0"/>
          </a:p>
        </p:txBody>
      </p:sp>
      <p:sp>
        <p:nvSpPr>
          <p:cNvPr id="19" name="Text 12"/>
          <p:cNvSpPr txBox="1"/>
          <p:nvPr/>
        </p:nvSpPr>
        <p:spPr>
          <a:xfrm>
            <a:off x="9098280" y="1792224"/>
            <a:ext cx="24688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changed between years?</a:t>
            </a:r>
            <a:endParaRPr lang="en-US" sz="1100" dirty="0"/>
          </a:p>
        </p:txBody>
      </p:sp>
      <p:sp>
        <p:nvSpPr>
          <p:cNvPr id="20" name="Shape 13"/>
          <p:cNvSpPr/>
          <p:nvPr/>
        </p:nvSpPr>
        <p:spPr>
          <a:xfrm>
            <a:off x="6903720" y="2423160"/>
            <a:ext cx="4736592" cy="594360"/>
          </a:xfrm>
          <a:prstGeom prst="roundRect">
            <a:avLst>
              <a:gd name="adj" fmla="val 12308"/>
            </a:avLst>
          </a:prstGeom>
          <a:solidFill>
            <a:srgbClr val="F4F8FB"/>
          </a:solidFill>
          <a:ln w="9525">
            <a:solidFill>
              <a:srgbClr val="D9E4EC"/>
            </a:solidFill>
            <a:prstDash val="solid"/>
          </a:ln>
        </p:spPr>
      </p:sp>
      <p:sp>
        <p:nvSpPr>
          <p:cNvPr id="21" name="Shape 14"/>
          <p:cNvSpPr/>
          <p:nvPr/>
        </p:nvSpPr>
        <p:spPr>
          <a:xfrm>
            <a:off x="6995160" y="2496312"/>
            <a:ext cx="438912" cy="438912"/>
          </a:xfrm>
          <a:prstGeom prst="ellipse">
            <a:avLst/>
          </a:prstGeom>
          <a:solidFill>
            <a:srgbClr val="E8F3FA"/>
          </a:solidFill>
          <a:ln w="12700">
            <a:solidFill>
              <a:srgbClr val="E8F3FA"/>
            </a:solidFill>
            <a:prstDash val="solid"/>
          </a:ln>
        </p:spPr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04888" y="2606040"/>
            <a:ext cx="219456" cy="219456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7543800" y="2478024"/>
            <a:ext cx="15544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Horizontal bars</a:t>
            </a:r>
            <a:endParaRPr lang="en-US" sz="1250" dirty="0"/>
          </a:p>
        </p:txBody>
      </p:sp>
      <p:sp>
        <p:nvSpPr>
          <p:cNvPr id="24" name="Text 16"/>
          <p:cNvSpPr txBox="1"/>
          <p:nvPr/>
        </p:nvSpPr>
        <p:spPr>
          <a:xfrm>
            <a:off x="9098280" y="2478024"/>
            <a:ext cx="24688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states had higher values?</a:t>
            </a:r>
            <a:endParaRPr lang="en-US" sz="1100" dirty="0"/>
          </a:p>
        </p:txBody>
      </p:sp>
      <p:sp>
        <p:nvSpPr>
          <p:cNvPr id="25" name="Shape 17"/>
          <p:cNvSpPr/>
          <p:nvPr/>
        </p:nvSpPr>
        <p:spPr>
          <a:xfrm>
            <a:off x="6903720" y="3108960"/>
            <a:ext cx="4736592" cy="594360"/>
          </a:xfrm>
          <a:prstGeom prst="roundRect">
            <a:avLst>
              <a:gd name="adj" fmla="val 12308"/>
            </a:avLst>
          </a:prstGeom>
          <a:solidFill>
            <a:srgbClr val="F4F8FB"/>
          </a:solidFill>
          <a:ln w="9525">
            <a:solidFill>
              <a:srgbClr val="D9E4EC"/>
            </a:solidFill>
            <a:prstDash val="solid"/>
          </a:ln>
        </p:spPr>
      </p:sp>
      <p:sp>
        <p:nvSpPr>
          <p:cNvPr id="26" name="Shape 18"/>
          <p:cNvSpPr/>
          <p:nvPr/>
        </p:nvSpPr>
        <p:spPr>
          <a:xfrm>
            <a:off x="6995160" y="3182112"/>
            <a:ext cx="438912" cy="438912"/>
          </a:xfrm>
          <a:prstGeom prst="ellipse">
            <a:avLst/>
          </a:prstGeom>
          <a:solidFill>
            <a:srgbClr val="E8F3FA"/>
          </a:solidFill>
          <a:ln w="12700">
            <a:solidFill>
              <a:srgbClr val="E8F3FA"/>
            </a:solidFill>
            <a:prstDash val="solid"/>
          </a:ln>
        </p:spPr>
      </p:sp>
      <p:pic>
        <p:nvPicPr>
          <p:cNvPr id="2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04888" y="3291840"/>
            <a:ext cx="219456" cy="219456"/>
          </a:xfrm>
          <a:prstGeom prst="rect">
            <a:avLst/>
          </a:prstGeom>
        </p:spPr>
      </p:pic>
      <p:sp>
        <p:nvSpPr>
          <p:cNvPr id="28" name="Text 19"/>
          <p:cNvSpPr txBox="1"/>
          <p:nvPr/>
        </p:nvSpPr>
        <p:spPr>
          <a:xfrm>
            <a:off x="7543800" y="3163824"/>
            <a:ext cx="15544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+ bars</a:t>
            </a:r>
            <a:endParaRPr lang="en-US" sz="1250" dirty="0"/>
          </a:p>
        </p:txBody>
      </p:sp>
      <p:sp>
        <p:nvSpPr>
          <p:cNvPr id="29" name="Text 20"/>
          <p:cNvSpPr txBox="1"/>
          <p:nvPr/>
        </p:nvSpPr>
        <p:spPr>
          <a:xfrm>
            <a:off x="9098280" y="3163824"/>
            <a:ext cx="24688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vaccinations build up over time?</a:t>
            </a:r>
            <a:endParaRPr lang="en-US" sz="1100" dirty="0"/>
          </a:p>
        </p:txBody>
      </p:sp>
      <p:sp>
        <p:nvSpPr>
          <p:cNvPr id="30" name="Shape 21"/>
          <p:cNvSpPr/>
          <p:nvPr/>
        </p:nvSpPr>
        <p:spPr>
          <a:xfrm>
            <a:off x="6903720" y="3794760"/>
            <a:ext cx="4736592" cy="594360"/>
          </a:xfrm>
          <a:prstGeom prst="roundRect">
            <a:avLst>
              <a:gd name="adj" fmla="val 12308"/>
            </a:avLst>
          </a:prstGeom>
          <a:solidFill>
            <a:srgbClr val="F4F8FB"/>
          </a:solidFill>
          <a:ln w="9525">
            <a:solidFill>
              <a:srgbClr val="D9E4EC"/>
            </a:solidFill>
            <a:prstDash val="solid"/>
          </a:ln>
        </p:spPr>
      </p:sp>
      <p:sp>
        <p:nvSpPr>
          <p:cNvPr id="31" name="Shape 22"/>
          <p:cNvSpPr/>
          <p:nvPr/>
        </p:nvSpPr>
        <p:spPr>
          <a:xfrm>
            <a:off x="6995160" y="3867912"/>
            <a:ext cx="438912" cy="438912"/>
          </a:xfrm>
          <a:prstGeom prst="ellipse">
            <a:avLst/>
          </a:prstGeom>
          <a:solidFill>
            <a:srgbClr val="E8F3FA"/>
          </a:solidFill>
          <a:ln w="12700">
            <a:solidFill>
              <a:srgbClr val="E8F3FA"/>
            </a:solidFill>
            <a:prstDash val="solid"/>
          </a:ln>
        </p:spPr>
      </p:sp>
      <p:pic>
        <p:nvPicPr>
          <p:cNvPr id="3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04888" y="3977640"/>
            <a:ext cx="219456" cy="219456"/>
          </a:xfrm>
          <a:prstGeom prst="rect">
            <a:avLst/>
          </a:prstGeom>
        </p:spPr>
      </p:pic>
      <p:sp>
        <p:nvSpPr>
          <p:cNvPr id="33" name="Text 23"/>
          <p:cNvSpPr txBox="1"/>
          <p:nvPr/>
        </p:nvSpPr>
        <p:spPr>
          <a:xfrm>
            <a:off x="7543800" y="3849624"/>
            <a:ext cx="15544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Donut chart</a:t>
            </a:r>
            <a:endParaRPr lang="en-US" sz="1250" dirty="0"/>
          </a:p>
        </p:txBody>
      </p:sp>
      <p:sp>
        <p:nvSpPr>
          <p:cNvPr id="34" name="Text 24"/>
          <p:cNvSpPr txBox="1"/>
          <p:nvPr/>
        </p:nvSpPr>
        <p:spPr>
          <a:xfrm>
            <a:off x="9098280" y="3849624"/>
            <a:ext cx="24688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are outcomes distributed?</a:t>
            </a:r>
            <a:endParaRPr lang="en-US" sz="1100" dirty="0"/>
          </a:p>
        </p:txBody>
      </p:sp>
      <p:sp>
        <p:nvSpPr>
          <p:cNvPr id="35" name="Shape 25"/>
          <p:cNvSpPr/>
          <p:nvPr/>
        </p:nvSpPr>
        <p:spPr>
          <a:xfrm>
            <a:off x="6903720" y="4480560"/>
            <a:ext cx="4736592" cy="594360"/>
          </a:xfrm>
          <a:prstGeom prst="roundRect">
            <a:avLst>
              <a:gd name="adj" fmla="val 12308"/>
            </a:avLst>
          </a:prstGeom>
          <a:solidFill>
            <a:srgbClr val="F4F8FB"/>
          </a:solidFill>
          <a:ln w="9525">
            <a:solidFill>
              <a:srgbClr val="D9E4EC"/>
            </a:solidFill>
            <a:prstDash val="solid"/>
          </a:ln>
        </p:spPr>
      </p:sp>
      <p:sp>
        <p:nvSpPr>
          <p:cNvPr id="36" name="Shape 26"/>
          <p:cNvSpPr/>
          <p:nvPr/>
        </p:nvSpPr>
        <p:spPr>
          <a:xfrm>
            <a:off x="6995160" y="4553712"/>
            <a:ext cx="438912" cy="438912"/>
          </a:xfrm>
          <a:prstGeom prst="ellipse">
            <a:avLst/>
          </a:prstGeom>
          <a:solidFill>
            <a:srgbClr val="E8F3FA"/>
          </a:solidFill>
          <a:ln w="12700">
            <a:solidFill>
              <a:srgbClr val="E8F3FA"/>
            </a:solidFill>
            <a:prstDash val="solid"/>
          </a:ln>
        </p:spPr>
      </p:sp>
      <p:pic>
        <p:nvPicPr>
          <p:cNvPr id="3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04888" y="4663440"/>
            <a:ext cx="219456" cy="219456"/>
          </a:xfrm>
          <a:prstGeom prst="rect">
            <a:avLst/>
          </a:prstGeom>
        </p:spPr>
      </p:pic>
      <p:sp>
        <p:nvSpPr>
          <p:cNvPr id="38" name="Text 27"/>
          <p:cNvSpPr txBox="1"/>
          <p:nvPr/>
        </p:nvSpPr>
        <p:spPr>
          <a:xfrm>
            <a:off x="7543800" y="4535424"/>
            <a:ext cx="15544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map</a:t>
            </a:r>
            <a:endParaRPr lang="en-US" sz="1250" dirty="0"/>
          </a:p>
        </p:txBody>
      </p:sp>
      <p:sp>
        <p:nvSpPr>
          <p:cNvPr id="39" name="Text 28"/>
          <p:cNvSpPr txBox="1"/>
          <p:nvPr/>
        </p:nvSpPr>
        <p:spPr>
          <a:xfrm>
            <a:off x="9098280" y="4535424"/>
            <a:ext cx="24688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is the impact concentrated?</a:t>
            </a:r>
            <a:endParaRPr lang="en-US" sz="1100" dirty="0"/>
          </a:p>
        </p:txBody>
      </p:sp>
      <p:sp>
        <p:nvSpPr>
          <p:cNvPr id="40" name="Shape 29"/>
          <p:cNvSpPr/>
          <p:nvPr/>
        </p:nvSpPr>
        <p:spPr>
          <a:xfrm>
            <a:off x="6903720" y="5166360"/>
            <a:ext cx="4736592" cy="594360"/>
          </a:xfrm>
          <a:prstGeom prst="roundRect">
            <a:avLst>
              <a:gd name="adj" fmla="val 12308"/>
            </a:avLst>
          </a:prstGeom>
          <a:solidFill>
            <a:srgbClr val="F4F8FB"/>
          </a:solidFill>
          <a:ln w="9525">
            <a:solidFill>
              <a:srgbClr val="D9E4EC"/>
            </a:solidFill>
            <a:prstDash val="solid"/>
          </a:ln>
        </p:spPr>
      </p:sp>
      <p:sp>
        <p:nvSpPr>
          <p:cNvPr id="41" name="Shape 30"/>
          <p:cNvSpPr/>
          <p:nvPr/>
        </p:nvSpPr>
        <p:spPr>
          <a:xfrm>
            <a:off x="6995160" y="5239512"/>
            <a:ext cx="438912" cy="438912"/>
          </a:xfrm>
          <a:prstGeom prst="ellipse">
            <a:avLst/>
          </a:prstGeom>
          <a:solidFill>
            <a:srgbClr val="E8F3FA"/>
          </a:solidFill>
          <a:ln w="12700">
            <a:solidFill>
              <a:srgbClr val="E8F3FA"/>
            </a:solidFill>
            <a:prstDash val="solid"/>
          </a:ln>
        </p:spPr>
      </p:sp>
      <p:pic>
        <p:nvPicPr>
          <p:cNvPr id="42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04888" y="5349240"/>
            <a:ext cx="219456" cy="219456"/>
          </a:xfrm>
          <a:prstGeom prst="rect">
            <a:avLst/>
          </a:prstGeom>
        </p:spPr>
      </p:pic>
      <p:sp>
        <p:nvSpPr>
          <p:cNvPr id="43" name="Text 31"/>
          <p:cNvSpPr txBox="1"/>
          <p:nvPr/>
        </p:nvSpPr>
        <p:spPr>
          <a:xfrm>
            <a:off x="7543800" y="5221224"/>
            <a:ext cx="15544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cards</a:t>
            </a:r>
            <a:endParaRPr lang="en-US" sz="1250" dirty="0"/>
          </a:p>
        </p:txBody>
      </p:sp>
      <p:sp>
        <p:nvSpPr>
          <p:cNvPr id="44" name="Text 32"/>
          <p:cNvSpPr txBox="1"/>
          <p:nvPr/>
        </p:nvSpPr>
        <p:spPr>
          <a:xfrm>
            <a:off x="9098280" y="5221224"/>
            <a:ext cx="24688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the main numbers?</a:t>
            </a:r>
            <a:endParaRPr lang="en-US" sz="1100" dirty="0"/>
          </a:p>
        </p:txBody>
      </p:sp>
      <p:sp>
        <p:nvSpPr>
          <p:cNvPr id="45" name="Shape 33"/>
          <p:cNvSpPr/>
          <p:nvPr/>
        </p:nvSpPr>
        <p:spPr>
          <a:xfrm>
            <a:off x="548640" y="5989320"/>
            <a:ext cx="11091672" cy="411480"/>
          </a:xfrm>
          <a:prstGeom prst="roundRect">
            <a:avLst>
              <a:gd name="adj" fmla="val 22222"/>
            </a:avLst>
          </a:prstGeom>
          <a:solidFill>
            <a:srgbClr val="E8F3FA"/>
          </a:solidFill>
          <a:ln w="12700">
            <a:solidFill>
              <a:srgbClr val="E8F3FA"/>
            </a:solidFill>
            <a:prstDash val="solid"/>
          </a:ln>
        </p:spPr>
      </p:sp>
      <p:sp>
        <p:nvSpPr>
          <p:cNvPr id="46" name="Text 34"/>
          <p:cNvSpPr txBox="1"/>
          <p:nvPr/>
        </p:nvSpPr>
        <p:spPr>
          <a:xfrm>
            <a:off x="731520" y="5989320"/>
            <a:ext cx="10725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7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explanation:  </a:t>
            </a:r>
            <a:pPr indent="0" marL="0">
              <a:buNone/>
            </a:pPr>
            <a:r>
              <a:rPr lang="en-US" sz="1300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chart types are used because each one answers a different question.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F7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 |  USER INTERACTION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dashboard experience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COVID-19 Data Visualization Dashboard  |  BCA 5th Semester Minor Project  |  Sigma University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091672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75488" y="1298448"/>
            <a:ext cx="6821424" cy="938615"/>
          </a:xfrm>
          <a:prstGeom prst="roundRect">
            <a:avLst>
              <a:gd name="adj" fmla="val 9742"/>
            </a:avLst>
          </a:prstGeom>
          <a:solidFill>
            <a:srgbClr val="FFFFFF"/>
          </a:solidFill>
          <a:ln w="9525">
            <a:solidFill>
              <a:srgbClr val="D9E4EC"/>
            </a:solidFill>
            <a:prstDash val="solid"/>
          </a:ln>
          <a:effectLst>
            <a:outerShdw sx="100000" sy="100000" kx="0" ky="0" algn="bl" rotWithShape="0" blurRad="101600" dist="25400" dir="5400000">
              <a:srgbClr val="0F2A4A">
                <a:alpha val="8000"/>
              </a:srgbClr>
            </a:outerShdw>
          </a:effectLst>
        </p:spPr>
      </p:sp>
      <p:pic>
        <p:nvPicPr>
          <p:cNvPr id="7" name="Image 0" descr="/home/claude/img/filt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6675120" cy="792311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2926080"/>
            <a:ext cx="214884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D9E4EC"/>
            </a:solidFill>
            <a:prstDash val="solid"/>
          </a:ln>
          <a:effectLst>
            <a:outerShdw sx="100000" sy="100000" kx="0" ky="0" algn="bl" rotWithShape="0" blurRad="101600" dist="25400" dir="5400000">
              <a:srgbClr val="0F2A4A">
                <a:alpha val="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58368" y="3063240"/>
            <a:ext cx="457200" cy="457200"/>
          </a:xfrm>
          <a:prstGeom prst="ellipse">
            <a:avLst/>
          </a:prstGeom>
          <a:solidFill>
            <a:srgbClr val="E8F3FA"/>
          </a:solidFill>
          <a:ln w="12700">
            <a:solidFill>
              <a:srgbClr val="E8F3FA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668" y="3177540"/>
            <a:ext cx="228600" cy="2286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207008" y="292608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selection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2834640" y="2926080"/>
            <a:ext cx="214884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D9E4EC"/>
            </a:solidFill>
            <a:prstDash val="solid"/>
          </a:ln>
          <a:effectLst>
            <a:outerShdw sx="100000" sy="100000" kx="0" ky="0" algn="bl" rotWithShape="0" blurRad="101600" dist="25400" dir="5400000">
              <a:srgbClr val="0F2A4A">
                <a:alpha val="8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2944368" y="3063240"/>
            <a:ext cx="457200" cy="457200"/>
          </a:xfrm>
          <a:prstGeom prst="ellipse">
            <a:avLst/>
          </a:prstGeom>
          <a:solidFill>
            <a:srgbClr val="E8F3FA"/>
          </a:solidFill>
          <a:ln w="12700">
            <a:solidFill>
              <a:srgbClr val="E8F3FA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8668" y="3177540"/>
            <a:ext cx="228600" cy="22860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3493008" y="292608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selection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5120640" y="2926080"/>
            <a:ext cx="214884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D9E4EC"/>
            </a:solidFill>
            <a:prstDash val="solid"/>
          </a:ln>
          <a:effectLst>
            <a:outerShdw sx="100000" sy="100000" kx="0" ky="0" algn="bl" rotWithShape="0" blurRad="101600" dist="25400" dir="5400000">
              <a:srgbClr val="0F2A4A">
                <a:alpha val="8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5230368" y="3063240"/>
            <a:ext cx="457200" cy="457200"/>
          </a:xfrm>
          <a:prstGeom prst="ellipse">
            <a:avLst/>
          </a:prstGeom>
          <a:solidFill>
            <a:srgbClr val="E8F3FA"/>
          </a:solidFill>
          <a:ln w="12700">
            <a:solidFill>
              <a:srgbClr val="E8F3FA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44668" y="3177540"/>
            <a:ext cx="228600" cy="22860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5779008" y="292608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 selection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548640" y="3794760"/>
            <a:ext cx="214884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D9E4EC"/>
            </a:solidFill>
            <a:prstDash val="solid"/>
          </a:ln>
          <a:effectLst>
            <a:outerShdw sx="100000" sy="100000" kx="0" ky="0" algn="bl" rotWithShape="0" blurRad="101600" dist="25400" dir="5400000">
              <a:srgbClr val="0F2A4A">
                <a:alpha val="8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658368" y="3931920"/>
            <a:ext cx="457200" cy="457200"/>
          </a:xfrm>
          <a:prstGeom prst="ellipse">
            <a:avLst/>
          </a:prstGeom>
          <a:solidFill>
            <a:srgbClr val="E8F3FA"/>
          </a:solidFill>
          <a:ln w="12700">
            <a:solidFill>
              <a:srgbClr val="E8F3FA"/>
            </a:solidFill>
            <a:prstDash val="solid"/>
          </a:ln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668" y="4046220"/>
            <a:ext cx="228600" cy="228600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1207008" y="379476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 &amp; reset</a:t>
            </a:r>
            <a:endParaRPr lang="en-US" sz="1200" dirty="0"/>
          </a:p>
        </p:txBody>
      </p:sp>
      <p:sp>
        <p:nvSpPr>
          <p:cNvPr id="24" name="Shape 17"/>
          <p:cNvSpPr/>
          <p:nvPr/>
        </p:nvSpPr>
        <p:spPr>
          <a:xfrm>
            <a:off x="2834640" y="3794760"/>
            <a:ext cx="214884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D9E4EC"/>
            </a:solidFill>
            <a:prstDash val="solid"/>
          </a:ln>
          <a:effectLst>
            <a:outerShdw sx="100000" sy="100000" kx="0" ky="0" algn="bl" rotWithShape="0" blurRad="101600" dist="25400" dir="5400000">
              <a:srgbClr val="0F2A4A">
                <a:alpha val="8000"/>
              </a:srgbClr>
            </a:outerShdw>
          </a:effectLst>
        </p:spPr>
      </p:sp>
      <p:sp>
        <p:nvSpPr>
          <p:cNvPr id="25" name="Shape 18"/>
          <p:cNvSpPr/>
          <p:nvPr/>
        </p:nvSpPr>
        <p:spPr>
          <a:xfrm>
            <a:off x="2944368" y="3931920"/>
            <a:ext cx="457200" cy="457200"/>
          </a:xfrm>
          <a:prstGeom prst="ellipse">
            <a:avLst/>
          </a:prstGeom>
          <a:solidFill>
            <a:srgbClr val="E8F3FA"/>
          </a:solidFill>
          <a:ln w="12700">
            <a:solidFill>
              <a:srgbClr val="E8F3FA"/>
            </a:solidFill>
            <a:prstDash val="solid"/>
          </a:ln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58668" y="4046220"/>
            <a:ext cx="228600" cy="228600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3493008" y="379476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in data grid</a:t>
            </a:r>
            <a:endParaRPr lang="en-US" sz="1200" dirty="0"/>
          </a:p>
        </p:txBody>
      </p:sp>
      <p:sp>
        <p:nvSpPr>
          <p:cNvPr id="28" name="Shape 20"/>
          <p:cNvSpPr/>
          <p:nvPr/>
        </p:nvSpPr>
        <p:spPr>
          <a:xfrm>
            <a:off x="5120640" y="3794760"/>
            <a:ext cx="214884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D9E4EC"/>
            </a:solidFill>
            <a:prstDash val="solid"/>
          </a:ln>
          <a:effectLst>
            <a:outerShdw sx="100000" sy="100000" kx="0" ky="0" algn="bl" rotWithShape="0" blurRad="101600" dist="25400" dir="5400000">
              <a:srgbClr val="0F2A4A">
                <a:alpha val="8000"/>
              </a:srgbClr>
            </a:outerShdw>
          </a:effectLst>
        </p:spPr>
      </p:sp>
      <p:sp>
        <p:nvSpPr>
          <p:cNvPr id="29" name="Shape 21"/>
          <p:cNvSpPr/>
          <p:nvPr/>
        </p:nvSpPr>
        <p:spPr>
          <a:xfrm>
            <a:off x="5230368" y="3931920"/>
            <a:ext cx="457200" cy="457200"/>
          </a:xfrm>
          <a:prstGeom prst="ellipse">
            <a:avLst/>
          </a:prstGeom>
          <a:solidFill>
            <a:srgbClr val="E8F3FA"/>
          </a:solidFill>
          <a:ln w="12700">
            <a:solidFill>
              <a:srgbClr val="E8F3FA"/>
            </a:solidFill>
            <a:prstDash val="solid"/>
          </a:ln>
        </p:spPr>
      </p:sp>
      <p:pic>
        <p:nvPicPr>
          <p:cNvPr id="3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44668" y="4046220"/>
            <a:ext cx="228600" cy="228600"/>
          </a:xfrm>
          <a:prstGeom prst="rect">
            <a:avLst/>
          </a:prstGeom>
        </p:spPr>
      </p:pic>
      <p:sp>
        <p:nvSpPr>
          <p:cNvPr id="31" name="Text 22"/>
          <p:cNvSpPr txBox="1"/>
          <p:nvPr/>
        </p:nvSpPr>
        <p:spPr>
          <a:xfrm>
            <a:off x="5779008" y="379476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upload</a:t>
            </a:r>
            <a:endParaRPr lang="en-US" sz="1200" dirty="0"/>
          </a:p>
        </p:txBody>
      </p:sp>
      <p:sp>
        <p:nvSpPr>
          <p:cNvPr id="32" name="Shape 23"/>
          <p:cNvSpPr/>
          <p:nvPr/>
        </p:nvSpPr>
        <p:spPr>
          <a:xfrm>
            <a:off x="548640" y="4663440"/>
            <a:ext cx="214884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D9E4EC"/>
            </a:solidFill>
            <a:prstDash val="solid"/>
          </a:ln>
          <a:effectLst>
            <a:outerShdw sx="100000" sy="100000" kx="0" ky="0" algn="bl" rotWithShape="0" blurRad="101600" dist="25400" dir="5400000">
              <a:srgbClr val="0F2A4A">
                <a:alpha val="8000"/>
              </a:srgbClr>
            </a:outerShdw>
          </a:effectLst>
        </p:spPr>
      </p:sp>
      <p:sp>
        <p:nvSpPr>
          <p:cNvPr id="33" name="Shape 24"/>
          <p:cNvSpPr/>
          <p:nvPr/>
        </p:nvSpPr>
        <p:spPr>
          <a:xfrm>
            <a:off x="658368" y="4800600"/>
            <a:ext cx="457200" cy="457200"/>
          </a:xfrm>
          <a:prstGeom prst="ellipse">
            <a:avLst/>
          </a:prstGeom>
          <a:solidFill>
            <a:srgbClr val="E8F3FA"/>
          </a:solidFill>
          <a:ln w="12700">
            <a:solidFill>
              <a:srgbClr val="E8F3FA"/>
            </a:solidFill>
            <a:prstDash val="solid"/>
          </a:ln>
        </p:spPr>
      </p:sp>
      <p:pic>
        <p:nvPicPr>
          <p:cNvPr id="3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2668" y="4914900"/>
            <a:ext cx="228600" cy="228600"/>
          </a:xfrm>
          <a:prstGeom prst="rect">
            <a:avLst/>
          </a:prstGeom>
        </p:spPr>
      </p:pic>
      <p:sp>
        <p:nvSpPr>
          <p:cNvPr id="35" name="Text 25"/>
          <p:cNvSpPr txBox="1"/>
          <p:nvPr/>
        </p:nvSpPr>
        <p:spPr>
          <a:xfrm>
            <a:off x="1207008" y="466344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 switching</a:t>
            </a:r>
            <a:endParaRPr lang="en-US" sz="1200" dirty="0"/>
          </a:p>
        </p:txBody>
      </p:sp>
      <p:sp>
        <p:nvSpPr>
          <p:cNvPr id="36" name="Shape 26"/>
          <p:cNvSpPr/>
          <p:nvPr/>
        </p:nvSpPr>
        <p:spPr>
          <a:xfrm>
            <a:off x="2834640" y="4663440"/>
            <a:ext cx="214884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D9E4EC"/>
            </a:solidFill>
            <a:prstDash val="solid"/>
          </a:ln>
          <a:effectLst>
            <a:outerShdw sx="100000" sy="100000" kx="0" ky="0" algn="bl" rotWithShape="0" blurRad="101600" dist="25400" dir="5400000">
              <a:srgbClr val="0F2A4A">
                <a:alpha val="8000"/>
              </a:srgbClr>
            </a:outerShdw>
          </a:effectLst>
        </p:spPr>
      </p:sp>
      <p:sp>
        <p:nvSpPr>
          <p:cNvPr id="37" name="Shape 27"/>
          <p:cNvSpPr/>
          <p:nvPr/>
        </p:nvSpPr>
        <p:spPr>
          <a:xfrm>
            <a:off x="2944368" y="4800600"/>
            <a:ext cx="457200" cy="457200"/>
          </a:xfrm>
          <a:prstGeom prst="ellipse">
            <a:avLst/>
          </a:prstGeom>
          <a:solidFill>
            <a:srgbClr val="E8F3FA"/>
          </a:solidFill>
          <a:ln w="12700">
            <a:solidFill>
              <a:srgbClr val="E8F3FA"/>
            </a:solidFill>
            <a:prstDash val="solid"/>
          </a:ln>
        </p:spPr>
      </p:sp>
      <p:pic>
        <p:nvPicPr>
          <p:cNvPr id="3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058668" y="4914900"/>
            <a:ext cx="228600" cy="228600"/>
          </a:xfrm>
          <a:prstGeom prst="rect">
            <a:avLst/>
          </a:prstGeom>
        </p:spPr>
      </p:pic>
      <p:sp>
        <p:nvSpPr>
          <p:cNvPr id="39" name="Text 28"/>
          <p:cNvSpPr txBox="1"/>
          <p:nvPr/>
        </p:nvSpPr>
        <p:spPr>
          <a:xfrm>
            <a:off x="3493008" y="466344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updates</a:t>
            </a:r>
            <a:endParaRPr lang="en-US" sz="1200" dirty="0"/>
          </a:p>
        </p:txBody>
      </p:sp>
      <p:sp>
        <p:nvSpPr>
          <p:cNvPr id="40" name="Shape 29"/>
          <p:cNvSpPr/>
          <p:nvPr/>
        </p:nvSpPr>
        <p:spPr>
          <a:xfrm>
            <a:off x="5120640" y="4663440"/>
            <a:ext cx="214884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D9E4EC"/>
            </a:solidFill>
            <a:prstDash val="solid"/>
          </a:ln>
          <a:effectLst>
            <a:outerShdw sx="100000" sy="100000" kx="0" ky="0" algn="bl" rotWithShape="0" blurRad="101600" dist="25400" dir="5400000">
              <a:srgbClr val="0F2A4A">
                <a:alpha val="8000"/>
              </a:srgbClr>
            </a:outerShdw>
          </a:effectLst>
        </p:spPr>
      </p:sp>
      <p:sp>
        <p:nvSpPr>
          <p:cNvPr id="41" name="Shape 30"/>
          <p:cNvSpPr/>
          <p:nvPr/>
        </p:nvSpPr>
        <p:spPr>
          <a:xfrm>
            <a:off x="5230368" y="4800600"/>
            <a:ext cx="457200" cy="457200"/>
          </a:xfrm>
          <a:prstGeom prst="ellipse">
            <a:avLst/>
          </a:prstGeom>
          <a:solidFill>
            <a:srgbClr val="E8F3FA"/>
          </a:solidFill>
          <a:ln w="12700">
            <a:solidFill>
              <a:srgbClr val="E8F3FA"/>
            </a:solidFill>
            <a:prstDash val="solid"/>
          </a:ln>
        </p:spPr>
      </p:sp>
      <p:pic>
        <p:nvPicPr>
          <p:cNvPr id="42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344668" y="4914900"/>
            <a:ext cx="228600" cy="228600"/>
          </a:xfrm>
          <a:prstGeom prst="rect">
            <a:avLst/>
          </a:prstGeom>
        </p:spPr>
      </p:pic>
      <p:sp>
        <p:nvSpPr>
          <p:cNvPr id="43" name="Text 31"/>
          <p:cNvSpPr txBox="1"/>
          <p:nvPr/>
        </p:nvSpPr>
        <p:spPr>
          <a:xfrm>
            <a:off x="5779008" y="466344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updates</a:t>
            </a:r>
            <a:endParaRPr lang="en-US" sz="1200" dirty="0"/>
          </a:p>
        </p:txBody>
      </p:sp>
      <p:sp>
        <p:nvSpPr>
          <p:cNvPr id="44" name="Shape 32"/>
          <p:cNvSpPr/>
          <p:nvPr/>
        </p:nvSpPr>
        <p:spPr>
          <a:xfrm>
            <a:off x="7680960" y="1371600"/>
            <a:ext cx="3959352" cy="4434840"/>
          </a:xfrm>
          <a:prstGeom prst="roundRect">
            <a:avLst>
              <a:gd name="adj" fmla="val 2771"/>
            </a:avLst>
          </a:prstGeom>
          <a:solidFill>
            <a:srgbClr val="F4F8FB"/>
          </a:solidFill>
          <a:ln w="9525">
            <a:solidFill>
              <a:srgbClr val="D9E4EC"/>
            </a:solidFill>
            <a:prstDash val="solid"/>
          </a:ln>
        </p:spPr>
      </p:sp>
      <p:sp>
        <p:nvSpPr>
          <p:cNvPr id="45" name="Text 33"/>
          <p:cNvSpPr txBox="1"/>
          <p:nvPr/>
        </p:nvSpPr>
        <p:spPr>
          <a:xfrm>
            <a:off x="7909560" y="1508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F7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AFTER A CLICK</a:t>
            </a:r>
            <a:endParaRPr lang="en-US" sz="1100" dirty="0"/>
          </a:p>
        </p:txBody>
      </p:sp>
      <p:sp>
        <p:nvSpPr>
          <p:cNvPr id="46" name="Shape 34"/>
          <p:cNvSpPr/>
          <p:nvPr/>
        </p:nvSpPr>
        <p:spPr>
          <a:xfrm>
            <a:off x="8321040" y="1874520"/>
            <a:ext cx="2926080" cy="3657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5875">
            <a:solidFill>
              <a:srgbClr val="7A8A9A"/>
            </a:solidFill>
            <a:prstDash val="solid"/>
          </a:ln>
        </p:spPr>
      </p:sp>
      <p:sp>
        <p:nvSpPr>
          <p:cNvPr id="47" name="Text 35"/>
          <p:cNvSpPr txBox="1"/>
          <p:nvPr/>
        </p:nvSpPr>
        <p:spPr>
          <a:xfrm>
            <a:off x="8321040" y="1874520"/>
            <a:ext cx="292608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SELECTION</a:t>
            </a:r>
            <a:endParaRPr lang="en-US" sz="1200" dirty="0"/>
          </a:p>
        </p:txBody>
      </p:sp>
      <p:sp>
        <p:nvSpPr>
          <p:cNvPr id="48" name="Shape 36"/>
          <p:cNvSpPr/>
          <p:nvPr/>
        </p:nvSpPr>
        <p:spPr>
          <a:xfrm>
            <a:off x="9784080" y="2258568"/>
            <a:ext cx="0" cy="100584"/>
          </a:xfrm>
          <a:prstGeom prst="line">
            <a:avLst/>
          </a:prstGeom>
          <a:noFill/>
          <a:ln w="15875">
            <a:solidFill>
              <a:srgbClr val="7A8A9A"/>
            </a:solidFill>
            <a:prstDash val="solid"/>
            <a:tailEnd type="triangle"/>
          </a:ln>
        </p:spPr>
      </p:sp>
      <p:sp>
        <p:nvSpPr>
          <p:cNvPr id="49" name="Shape 37"/>
          <p:cNvSpPr/>
          <p:nvPr/>
        </p:nvSpPr>
        <p:spPr>
          <a:xfrm>
            <a:off x="8321040" y="2377440"/>
            <a:ext cx="2926080" cy="3657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5875">
            <a:solidFill>
              <a:srgbClr val="1F7FBF"/>
            </a:solidFill>
            <a:prstDash val="solid"/>
          </a:ln>
        </p:spPr>
      </p:sp>
      <p:sp>
        <p:nvSpPr>
          <p:cNvPr id="50" name="Text 38"/>
          <p:cNvSpPr txBox="1"/>
          <p:nvPr/>
        </p:nvSpPr>
        <p:spPr>
          <a:xfrm>
            <a:off x="8321040" y="2377440"/>
            <a:ext cx="292608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FILTER</a:t>
            </a:r>
            <a:endParaRPr lang="en-US" sz="1200" dirty="0"/>
          </a:p>
        </p:txBody>
      </p:sp>
      <p:sp>
        <p:nvSpPr>
          <p:cNvPr id="51" name="Shape 39"/>
          <p:cNvSpPr/>
          <p:nvPr/>
        </p:nvSpPr>
        <p:spPr>
          <a:xfrm>
            <a:off x="9784080" y="2761488"/>
            <a:ext cx="0" cy="100584"/>
          </a:xfrm>
          <a:prstGeom prst="line">
            <a:avLst/>
          </a:prstGeom>
          <a:noFill/>
          <a:ln w="15875">
            <a:solidFill>
              <a:srgbClr val="7A8A9A"/>
            </a:solidFill>
            <a:prstDash val="solid"/>
            <a:tailEnd type="triangle"/>
          </a:ln>
        </p:spPr>
      </p:sp>
      <p:sp>
        <p:nvSpPr>
          <p:cNvPr id="52" name="Shape 40"/>
          <p:cNvSpPr/>
          <p:nvPr/>
        </p:nvSpPr>
        <p:spPr>
          <a:xfrm>
            <a:off x="8321040" y="2880360"/>
            <a:ext cx="2926080" cy="3657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5875">
            <a:solidFill>
              <a:srgbClr val="1F7FBF"/>
            </a:solidFill>
            <a:prstDash val="solid"/>
          </a:ln>
        </p:spPr>
      </p:sp>
      <p:sp>
        <p:nvSpPr>
          <p:cNvPr id="53" name="Text 41"/>
          <p:cNvSpPr txBox="1"/>
          <p:nvPr/>
        </p:nvSpPr>
        <p:spPr>
          <a:xfrm>
            <a:off x="8321040" y="2880360"/>
            <a:ext cx="292608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CALCULATIONS</a:t>
            </a:r>
            <a:endParaRPr lang="en-US" sz="1200" dirty="0"/>
          </a:p>
        </p:txBody>
      </p:sp>
      <p:sp>
        <p:nvSpPr>
          <p:cNvPr id="54" name="Shape 42"/>
          <p:cNvSpPr/>
          <p:nvPr/>
        </p:nvSpPr>
        <p:spPr>
          <a:xfrm>
            <a:off x="9784080" y="3264408"/>
            <a:ext cx="0" cy="100584"/>
          </a:xfrm>
          <a:prstGeom prst="line">
            <a:avLst/>
          </a:prstGeom>
          <a:noFill/>
          <a:ln w="15875">
            <a:solidFill>
              <a:srgbClr val="7A8A9A"/>
            </a:solidFill>
            <a:prstDash val="solid"/>
            <a:tailEnd type="triangle"/>
          </a:ln>
        </p:spPr>
      </p:sp>
      <p:sp>
        <p:nvSpPr>
          <p:cNvPr id="55" name="Shape 43"/>
          <p:cNvSpPr/>
          <p:nvPr/>
        </p:nvSpPr>
        <p:spPr>
          <a:xfrm>
            <a:off x="8321040" y="3383280"/>
            <a:ext cx="2926080" cy="3657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5875">
            <a:solidFill>
              <a:srgbClr val="22A6D6"/>
            </a:solidFill>
            <a:prstDash val="solid"/>
          </a:ln>
        </p:spPr>
      </p:sp>
      <p:sp>
        <p:nvSpPr>
          <p:cNvPr id="56" name="Text 44"/>
          <p:cNvSpPr txBox="1"/>
          <p:nvPr/>
        </p:nvSpPr>
        <p:spPr>
          <a:xfrm>
            <a:off x="8321040" y="3383280"/>
            <a:ext cx="292608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UPDATE</a:t>
            </a:r>
            <a:endParaRPr lang="en-US" sz="1200" dirty="0"/>
          </a:p>
        </p:txBody>
      </p:sp>
      <p:sp>
        <p:nvSpPr>
          <p:cNvPr id="57" name="Shape 45"/>
          <p:cNvSpPr/>
          <p:nvPr/>
        </p:nvSpPr>
        <p:spPr>
          <a:xfrm>
            <a:off x="9784080" y="3767328"/>
            <a:ext cx="0" cy="100584"/>
          </a:xfrm>
          <a:prstGeom prst="line">
            <a:avLst/>
          </a:prstGeom>
          <a:noFill/>
          <a:ln w="15875">
            <a:solidFill>
              <a:srgbClr val="7A8A9A"/>
            </a:solidFill>
            <a:prstDash val="solid"/>
            <a:tailEnd type="triangle"/>
          </a:ln>
        </p:spPr>
      </p:sp>
      <p:sp>
        <p:nvSpPr>
          <p:cNvPr id="58" name="Shape 46"/>
          <p:cNvSpPr/>
          <p:nvPr/>
        </p:nvSpPr>
        <p:spPr>
          <a:xfrm>
            <a:off x="8321040" y="3886200"/>
            <a:ext cx="2926080" cy="3657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5875">
            <a:solidFill>
              <a:srgbClr val="22A6D6"/>
            </a:solidFill>
            <a:prstDash val="solid"/>
          </a:ln>
        </p:spPr>
      </p:sp>
      <p:sp>
        <p:nvSpPr>
          <p:cNvPr id="59" name="Text 47"/>
          <p:cNvSpPr txBox="1"/>
          <p:nvPr/>
        </p:nvSpPr>
        <p:spPr>
          <a:xfrm>
            <a:off x="8321040" y="3886200"/>
            <a:ext cx="292608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UPDATE</a:t>
            </a:r>
            <a:endParaRPr lang="en-US" sz="1200" dirty="0"/>
          </a:p>
        </p:txBody>
      </p:sp>
      <p:sp>
        <p:nvSpPr>
          <p:cNvPr id="60" name="Shape 48"/>
          <p:cNvSpPr/>
          <p:nvPr/>
        </p:nvSpPr>
        <p:spPr>
          <a:xfrm>
            <a:off x="9784080" y="4270248"/>
            <a:ext cx="0" cy="100584"/>
          </a:xfrm>
          <a:prstGeom prst="line">
            <a:avLst/>
          </a:prstGeom>
          <a:noFill/>
          <a:ln w="15875">
            <a:solidFill>
              <a:srgbClr val="7A8A9A"/>
            </a:solidFill>
            <a:prstDash val="solid"/>
            <a:tailEnd type="triangle"/>
          </a:ln>
        </p:spPr>
      </p:sp>
      <p:sp>
        <p:nvSpPr>
          <p:cNvPr id="61" name="Shape 49"/>
          <p:cNvSpPr/>
          <p:nvPr/>
        </p:nvSpPr>
        <p:spPr>
          <a:xfrm>
            <a:off x="8321040" y="4389120"/>
            <a:ext cx="2926080" cy="3657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5875">
            <a:solidFill>
              <a:srgbClr val="22A6D6"/>
            </a:solidFill>
            <a:prstDash val="solid"/>
          </a:ln>
        </p:spPr>
      </p:sp>
      <p:sp>
        <p:nvSpPr>
          <p:cNvPr id="62" name="Text 50"/>
          <p:cNvSpPr txBox="1"/>
          <p:nvPr/>
        </p:nvSpPr>
        <p:spPr>
          <a:xfrm>
            <a:off x="8321040" y="4389120"/>
            <a:ext cx="292608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UPDATE</a:t>
            </a:r>
            <a:endParaRPr lang="en-US" sz="1200" dirty="0"/>
          </a:p>
        </p:txBody>
      </p:sp>
      <p:sp>
        <p:nvSpPr>
          <p:cNvPr id="63" name="Shape 51"/>
          <p:cNvSpPr/>
          <p:nvPr/>
        </p:nvSpPr>
        <p:spPr>
          <a:xfrm>
            <a:off x="9784080" y="4773168"/>
            <a:ext cx="0" cy="100584"/>
          </a:xfrm>
          <a:prstGeom prst="line">
            <a:avLst/>
          </a:prstGeom>
          <a:noFill/>
          <a:ln w="15875">
            <a:solidFill>
              <a:srgbClr val="7A8A9A"/>
            </a:solidFill>
            <a:prstDash val="solid"/>
            <a:tailEnd type="triangle"/>
          </a:ln>
        </p:spPr>
      </p:sp>
      <p:sp>
        <p:nvSpPr>
          <p:cNvPr id="64" name="Shape 52"/>
          <p:cNvSpPr/>
          <p:nvPr/>
        </p:nvSpPr>
        <p:spPr>
          <a:xfrm>
            <a:off x="8321040" y="4892040"/>
            <a:ext cx="2926080" cy="3657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5875">
            <a:solidFill>
              <a:srgbClr val="1BA784"/>
            </a:solidFill>
            <a:prstDash val="solid"/>
          </a:ln>
        </p:spPr>
      </p:sp>
      <p:sp>
        <p:nvSpPr>
          <p:cNvPr id="65" name="Text 53"/>
          <p:cNvSpPr txBox="1"/>
          <p:nvPr/>
        </p:nvSpPr>
        <p:spPr>
          <a:xfrm>
            <a:off x="8321040" y="4892040"/>
            <a:ext cx="292608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UPDATE</a:t>
            </a:r>
            <a:endParaRPr lang="en-US" sz="1200" dirty="0"/>
          </a:p>
        </p:txBody>
      </p:sp>
      <p:sp>
        <p:nvSpPr>
          <p:cNvPr id="66" name="Shape 54"/>
          <p:cNvSpPr/>
          <p:nvPr/>
        </p:nvSpPr>
        <p:spPr>
          <a:xfrm>
            <a:off x="548640" y="5943600"/>
            <a:ext cx="11091672" cy="411480"/>
          </a:xfrm>
          <a:prstGeom prst="roundRect">
            <a:avLst>
              <a:gd name="adj" fmla="val 22222"/>
            </a:avLst>
          </a:prstGeom>
          <a:solidFill>
            <a:srgbClr val="E8F3FA"/>
          </a:solidFill>
          <a:ln w="12700">
            <a:solidFill>
              <a:srgbClr val="E8F3FA"/>
            </a:solidFill>
            <a:prstDash val="solid"/>
          </a:ln>
        </p:spPr>
      </p:sp>
      <p:sp>
        <p:nvSpPr>
          <p:cNvPr id="67" name="Text 55"/>
          <p:cNvSpPr txBox="1"/>
          <p:nvPr/>
        </p:nvSpPr>
        <p:spPr>
          <a:xfrm>
            <a:off x="731520" y="5943600"/>
            <a:ext cx="10725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7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explanation:  </a:t>
            </a:r>
            <a:pPr indent="0" marL="0">
              <a:buNone/>
            </a:pPr>
            <a:r>
              <a:rPr lang="en-US" sz="1300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not a static set of charts: every selection recalculates and redraws the whole dashboard.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F7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 |  DATA FLEXIBILITY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dataset upload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COVID-19 Data Visualization Dashboard  |  BCA 5th Semester Minor Project  |  Sigma University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091672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75488" y="1298448"/>
            <a:ext cx="6912864" cy="2135490"/>
          </a:xfrm>
          <a:prstGeom prst="roundRect">
            <a:avLst>
              <a:gd name="adj" fmla="val 4282"/>
            </a:avLst>
          </a:prstGeom>
          <a:solidFill>
            <a:srgbClr val="FFFFFF"/>
          </a:solidFill>
          <a:ln w="9525">
            <a:solidFill>
              <a:srgbClr val="D9E4EC"/>
            </a:solidFill>
            <a:prstDash val="solid"/>
          </a:ln>
          <a:effectLst>
            <a:outerShdw sx="100000" sy="100000" kx="0" ky="0" algn="bl" rotWithShape="0" blurRad="101600" dist="25400" dir="5400000">
              <a:srgbClr val="0F2A4A">
                <a:alpha val="8000"/>
              </a:srgbClr>
            </a:outerShdw>
          </a:effectLst>
        </p:spPr>
      </p:sp>
      <p:pic>
        <p:nvPicPr>
          <p:cNvPr id="7" name="Image 0" descr="/home/claude/img/uploa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6766560" cy="198918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4343400"/>
            <a:ext cx="548640" cy="548640"/>
          </a:xfrm>
          <a:prstGeom prst="ellipse">
            <a:avLst/>
          </a:prstGeom>
          <a:solidFill>
            <a:srgbClr val="E3F6F0"/>
          </a:solidFill>
          <a:ln w="12700">
            <a:solidFill>
              <a:srgbClr val="E3F6F0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4480560"/>
            <a:ext cx="274320" cy="27432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234440" y="43434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files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3291840" y="4343400"/>
            <a:ext cx="548640" cy="548640"/>
          </a:xfrm>
          <a:prstGeom prst="ellipse">
            <a:avLst/>
          </a:prstGeom>
          <a:solidFill>
            <a:srgbClr val="E3F6F0"/>
          </a:solidFill>
          <a:ln w="12700">
            <a:solidFill>
              <a:srgbClr val="E3F6F0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9000" y="4480560"/>
            <a:ext cx="274320" cy="27432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3977640" y="43434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XLSX files</a:t>
            </a:r>
            <a:endParaRPr lang="en-US" sz="1500" dirty="0"/>
          </a:p>
        </p:txBody>
      </p:sp>
      <p:sp>
        <p:nvSpPr>
          <p:cNvPr id="14" name="Text 9"/>
          <p:cNvSpPr txBox="1"/>
          <p:nvPr/>
        </p:nvSpPr>
        <p:spPr>
          <a:xfrm>
            <a:off x="548640" y="507492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are parsed with JavaScript and SheetJS directly in the browser.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7863840" y="1371600"/>
            <a:ext cx="3776472" cy="3429000"/>
          </a:xfrm>
          <a:prstGeom prst="roundRect">
            <a:avLst>
              <a:gd name="adj" fmla="val 3200"/>
            </a:avLst>
          </a:prstGeom>
          <a:solidFill>
            <a:srgbClr val="F4F8FB"/>
          </a:solidFill>
          <a:ln w="9525">
            <a:solidFill>
              <a:srgbClr val="D9E4EC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8275320" y="1554480"/>
            <a:ext cx="292608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5875">
            <a:solidFill>
              <a:srgbClr val="1F7FBF"/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8275320" y="1554480"/>
            <a:ext cx="292608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CSV / XLSX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9738360" y="2029968"/>
            <a:ext cx="0" cy="192024"/>
          </a:xfrm>
          <a:prstGeom prst="line">
            <a:avLst/>
          </a:prstGeom>
          <a:noFill/>
          <a:ln w="15875">
            <a:solidFill>
              <a:srgbClr val="7A8A9A"/>
            </a:solidFill>
            <a:prstDash val="solid"/>
            <a:tailEnd type="triangle"/>
          </a:ln>
        </p:spPr>
      </p:sp>
      <p:sp>
        <p:nvSpPr>
          <p:cNvPr id="19" name="Shape 14"/>
          <p:cNvSpPr/>
          <p:nvPr/>
        </p:nvSpPr>
        <p:spPr>
          <a:xfrm>
            <a:off x="8275320" y="2240280"/>
            <a:ext cx="292608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5875">
            <a:solidFill>
              <a:srgbClr val="1F7FBF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8275320" y="2240280"/>
            <a:ext cx="292608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PARSING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9738360" y="2715768"/>
            <a:ext cx="0" cy="192024"/>
          </a:xfrm>
          <a:prstGeom prst="line">
            <a:avLst/>
          </a:prstGeom>
          <a:noFill/>
          <a:ln w="15875">
            <a:solidFill>
              <a:srgbClr val="7A8A9A"/>
            </a:solidFill>
            <a:prstDash val="solid"/>
            <a:tailEnd type="triangle"/>
          </a:ln>
        </p:spPr>
      </p:sp>
      <p:sp>
        <p:nvSpPr>
          <p:cNvPr id="22" name="Shape 17"/>
          <p:cNvSpPr/>
          <p:nvPr/>
        </p:nvSpPr>
        <p:spPr>
          <a:xfrm>
            <a:off x="8275320" y="2926080"/>
            <a:ext cx="292608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5875">
            <a:solidFill>
              <a:srgbClr val="22A6D6"/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8275320" y="2926080"/>
            <a:ext cx="292608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9738360" y="3401568"/>
            <a:ext cx="0" cy="192024"/>
          </a:xfrm>
          <a:prstGeom prst="line">
            <a:avLst/>
          </a:prstGeom>
          <a:noFill/>
          <a:ln w="15875">
            <a:solidFill>
              <a:srgbClr val="7A8A9A"/>
            </a:solidFill>
            <a:prstDash val="solid"/>
            <a:tailEnd type="triangle"/>
          </a:ln>
        </p:spPr>
      </p:sp>
      <p:sp>
        <p:nvSpPr>
          <p:cNvPr id="25" name="Shape 20"/>
          <p:cNvSpPr/>
          <p:nvPr/>
        </p:nvSpPr>
        <p:spPr>
          <a:xfrm>
            <a:off x="8275320" y="3611880"/>
            <a:ext cx="292608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5875">
            <a:solidFill>
              <a:srgbClr val="22A6D6"/>
            </a:solidFill>
            <a:prstDash val="solid"/>
          </a:ln>
        </p:spPr>
      </p:sp>
      <p:sp>
        <p:nvSpPr>
          <p:cNvPr id="26" name="Text 21"/>
          <p:cNvSpPr txBox="1"/>
          <p:nvPr/>
        </p:nvSpPr>
        <p:spPr>
          <a:xfrm>
            <a:off x="8275320" y="3611880"/>
            <a:ext cx="292608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PROCESSING</a:t>
            </a:r>
            <a:endParaRPr lang="en-US" sz="1200" dirty="0"/>
          </a:p>
        </p:txBody>
      </p:sp>
      <p:sp>
        <p:nvSpPr>
          <p:cNvPr id="27" name="Shape 22"/>
          <p:cNvSpPr/>
          <p:nvPr/>
        </p:nvSpPr>
        <p:spPr>
          <a:xfrm>
            <a:off x="9738360" y="4087368"/>
            <a:ext cx="0" cy="192024"/>
          </a:xfrm>
          <a:prstGeom prst="line">
            <a:avLst/>
          </a:prstGeom>
          <a:noFill/>
          <a:ln w="15875">
            <a:solidFill>
              <a:srgbClr val="7A8A9A"/>
            </a:solidFill>
            <a:prstDash val="solid"/>
            <a:tailEnd type="triangle"/>
          </a:ln>
        </p:spPr>
      </p:sp>
      <p:sp>
        <p:nvSpPr>
          <p:cNvPr id="28" name="Shape 23"/>
          <p:cNvSpPr/>
          <p:nvPr/>
        </p:nvSpPr>
        <p:spPr>
          <a:xfrm>
            <a:off x="8275320" y="4297680"/>
            <a:ext cx="292608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5875">
            <a:solidFill>
              <a:srgbClr val="1BA784"/>
            </a:solidFill>
            <a:prstDash val="solid"/>
          </a:ln>
        </p:spPr>
      </p:sp>
      <p:sp>
        <p:nvSpPr>
          <p:cNvPr id="29" name="Text 24"/>
          <p:cNvSpPr txBox="1"/>
          <p:nvPr/>
        </p:nvSpPr>
        <p:spPr>
          <a:xfrm>
            <a:off x="8275320" y="4297680"/>
            <a:ext cx="292608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VISUALIZATION</a:t>
            </a:r>
            <a:endParaRPr lang="en-US" sz="1200" dirty="0"/>
          </a:p>
        </p:txBody>
      </p:sp>
      <p:sp>
        <p:nvSpPr>
          <p:cNvPr id="30" name="Shape 25"/>
          <p:cNvSpPr/>
          <p:nvPr/>
        </p:nvSpPr>
        <p:spPr>
          <a:xfrm>
            <a:off x="7863840" y="4937760"/>
            <a:ext cx="3776472" cy="868680"/>
          </a:xfrm>
          <a:prstGeom prst="roundRect">
            <a:avLst>
              <a:gd name="adj" fmla="val 12632"/>
            </a:avLst>
          </a:prstGeom>
          <a:solidFill>
            <a:srgbClr val="E3F6F0"/>
          </a:solidFill>
          <a:ln w="9525">
            <a:solidFill>
              <a:srgbClr val="E3F6F0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8001000" y="5166360"/>
            <a:ext cx="411480" cy="4114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03870" y="5269230"/>
            <a:ext cx="205740" cy="205740"/>
          </a:xfrm>
          <a:prstGeom prst="rect">
            <a:avLst/>
          </a:prstGeom>
        </p:spPr>
      </p:pic>
      <p:sp>
        <p:nvSpPr>
          <p:cNvPr id="33" name="Text 27"/>
          <p:cNvSpPr txBox="1"/>
          <p:nvPr/>
        </p:nvSpPr>
        <p:spPr>
          <a:xfrm>
            <a:off x="8549640" y="493776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Processed client-side: uploaded data is not sent to a project backend server.</a:t>
            </a:r>
            <a:endParaRPr lang="en-US" sz="1150" dirty="0"/>
          </a:p>
        </p:txBody>
      </p:sp>
      <p:sp>
        <p:nvSpPr>
          <p:cNvPr id="34" name="Shape 28"/>
          <p:cNvSpPr/>
          <p:nvPr/>
        </p:nvSpPr>
        <p:spPr>
          <a:xfrm>
            <a:off x="548640" y="5943600"/>
            <a:ext cx="11091672" cy="411480"/>
          </a:xfrm>
          <a:prstGeom prst="roundRect">
            <a:avLst>
              <a:gd name="adj" fmla="val 22222"/>
            </a:avLst>
          </a:prstGeom>
          <a:solidFill>
            <a:srgbClr val="E8F3FA"/>
          </a:solidFill>
          <a:ln w="12700">
            <a:solidFill>
              <a:srgbClr val="E8F3FA"/>
            </a:solidFill>
            <a:prstDash val="solid"/>
          </a:ln>
        </p:spPr>
      </p:sp>
      <p:sp>
        <p:nvSpPr>
          <p:cNvPr id="35" name="Text 29"/>
          <p:cNvSpPr txBox="1"/>
          <p:nvPr/>
        </p:nvSpPr>
        <p:spPr>
          <a:xfrm>
            <a:off x="731520" y="5943600"/>
            <a:ext cx="10725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7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explanation:  </a:t>
            </a:r>
            <a:pPr indent="0" marL="0">
              <a:buNone/>
            </a:pPr>
            <a:r>
              <a:rPr lang="en-US" sz="1300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uploaded file is processed directly in your browser.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F7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 |  AUTOMATED INSIGHTS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automated insights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COVID-19 Data Visualization Dashboard  |  BCA 5th Semester Minor Project  |  Sigma University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091672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75488" y="1298448"/>
            <a:ext cx="6912864" cy="2909484"/>
          </a:xfrm>
          <a:prstGeom prst="roundRect">
            <a:avLst>
              <a:gd name="adj" fmla="val 3143"/>
            </a:avLst>
          </a:prstGeom>
          <a:solidFill>
            <a:srgbClr val="FFFFFF"/>
          </a:solidFill>
          <a:ln w="9525">
            <a:solidFill>
              <a:srgbClr val="D9E4EC"/>
            </a:solidFill>
            <a:prstDash val="solid"/>
          </a:ln>
          <a:effectLst>
            <a:outerShdw sx="100000" sy="100000" kx="0" ky="0" algn="bl" rotWithShape="0" blurRad="101600" dist="25400" dir="5400000">
              <a:srgbClr val="0F2A4A">
                <a:alpha val="8000"/>
              </a:srgbClr>
            </a:outerShdw>
          </a:effectLst>
        </p:spPr>
      </p:sp>
      <p:pic>
        <p:nvPicPr>
          <p:cNvPr id="7" name="Image 0" descr="/home/claude/img/insigh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6766560" cy="276318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680960" y="1371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F7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RULES LOOK FOR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7680960" y="17373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2A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 </a:t>
            </a:r>
            <a:pPr indent="0" marL="0">
              <a:buNone/>
            </a:pPr>
            <a:r>
              <a:rPr lang="en-US" sz="1300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case count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7680960" y="21031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2A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 </a:t>
            </a:r>
            <a:pPr indent="0" marL="0">
              <a:buNone/>
            </a:pPr>
            <a:r>
              <a:rPr lang="en-US" sz="1300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death count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7680960" y="24688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2A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 </a:t>
            </a:r>
            <a:pPr indent="0" marL="0">
              <a:buNone/>
            </a:pPr>
            <a:r>
              <a:rPr lang="en-US" sz="1300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recovery count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7680960" y="28346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2A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 </a:t>
            </a:r>
            <a:pPr indent="0" marL="0">
              <a:buNone/>
            </a:pPr>
            <a:r>
              <a:rPr lang="en-US" sz="1300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vaccination count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7680960" y="32004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2A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 </a:t>
            </a:r>
            <a:pPr indent="0" marL="0">
              <a:buNone/>
            </a:pPr>
            <a:r>
              <a:rPr lang="en-US" sz="1300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Significant year-over-year changes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7680960" y="35661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2A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 </a:t>
            </a:r>
            <a:pPr indent="0" marL="0">
              <a:buNone/>
            </a:pPr>
            <a:r>
              <a:rPr lang="en-US" sz="1300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State-level differences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7680960" y="4069080"/>
            <a:ext cx="3959352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9525">
            <a:solidFill>
              <a:srgbClr val="D9E4EC"/>
            </a:solidFill>
            <a:prstDash val="solid"/>
          </a:ln>
          <a:effectLst>
            <a:outerShdw sx="100000" sy="100000" kx="0" ky="0" algn="bl" rotWithShape="0" blurRad="101600" dist="25400" dir="5400000">
              <a:srgbClr val="0F2A4A">
                <a:alpha val="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7863840" y="4251960"/>
            <a:ext cx="457200" cy="457200"/>
          </a:xfrm>
          <a:prstGeom prst="ellipse">
            <a:avLst/>
          </a:prstGeom>
          <a:solidFill>
            <a:srgbClr val="FEF3DC"/>
          </a:solidFill>
          <a:ln w="12700">
            <a:solidFill>
              <a:srgbClr val="FEF3DC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8140" y="4366260"/>
            <a:ext cx="228600" cy="228600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8458200" y="42519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7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000" dirty="0"/>
          </a:p>
        </p:txBody>
      </p:sp>
      <p:sp>
        <p:nvSpPr>
          <p:cNvPr id="19" name="Text 15"/>
          <p:cNvSpPr txBox="1"/>
          <p:nvPr/>
        </p:nvSpPr>
        <p:spPr>
          <a:xfrm>
            <a:off x="8458200" y="448056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Rule: find the state with the highest deaths ÷ cases in the current view</a:t>
            </a:r>
            <a:endParaRPr lang="en-US" sz="1100" dirty="0"/>
          </a:p>
        </p:txBody>
      </p:sp>
      <p:sp>
        <p:nvSpPr>
          <p:cNvPr id="20" name="Text 16"/>
          <p:cNvSpPr txBox="1"/>
          <p:nvPr/>
        </p:nvSpPr>
        <p:spPr>
          <a:xfrm>
            <a:off x="7863840" y="50749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"Highest mortality: [State]"</a:t>
            </a:r>
            <a:endParaRPr lang="en-US" sz="1300" dirty="0"/>
          </a:p>
        </p:txBody>
      </p:sp>
      <p:sp>
        <p:nvSpPr>
          <p:cNvPr id="21" name="Text 17"/>
          <p:cNvSpPr txBox="1"/>
          <p:nvPr/>
        </p:nvSpPr>
        <p:spPr>
          <a:xfrm>
            <a:off x="548640" y="470916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4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AI / machine learning. Fixed rules on the selected data.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548640" y="5943600"/>
            <a:ext cx="11091672" cy="411480"/>
          </a:xfrm>
          <a:prstGeom prst="roundRect">
            <a:avLst>
              <a:gd name="adj" fmla="val 22222"/>
            </a:avLst>
          </a:prstGeom>
          <a:solidFill>
            <a:srgbClr val="E8F3FA"/>
          </a:solidFill>
          <a:ln w="12700">
            <a:solidFill>
              <a:srgbClr val="E8F3FA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731520" y="5943600"/>
            <a:ext cx="10725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7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explanation:  </a:t>
            </a:r>
            <a:pPr indent="0" marL="0">
              <a:buNone/>
            </a:pPr>
            <a:r>
              <a:rPr lang="en-US" sz="1300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automatically points out the important patterns in whatever data is selected.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F7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 |  EVALUATION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 &amp; limitations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COVID-19 Data Visualization Dashboard  |  BCA 5th Semester Minor Project  |  Sigma University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091672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5486400" cy="4526280"/>
          </a:xfrm>
          <a:prstGeom prst="roundRect">
            <a:avLst>
              <a:gd name="adj" fmla="val 2424"/>
            </a:avLst>
          </a:prstGeom>
          <a:solidFill>
            <a:srgbClr val="E3F6F0"/>
          </a:solidFill>
          <a:ln w="9525">
            <a:solidFill>
              <a:srgbClr val="C7EBD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1508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BA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192024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A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visualization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304288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A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state-wise comparison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2688336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A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map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3072384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A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analytical perspectives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3456432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A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and validation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384048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A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CSV / XLSX upload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4224528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A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insights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4608576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A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interface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4992624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A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Client-side uploaded file processing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5376672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A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data engineering with visualization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263640" y="1371600"/>
            <a:ext cx="5376672" cy="4526280"/>
          </a:xfrm>
          <a:prstGeom prst="roundRect">
            <a:avLst>
              <a:gd name="adj" fmla="val 2424"/>
            </a:avLst>
          </a:prstGeom>
          <a:solidFill>
            <a:srgbClr val="FEF3DC"/>
          </a:solidFill>
          <a:ln w="9525">
            <a:solidFill>
              <a:srgbClr val="F6DFA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537960" y="1508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537960" y="1920240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  </a:t>
            </a:r>
            <a:pPr indent="0" marL="0">
              <a:buNone/>
            </a:pPr>
            <a:r>
              <a:rPr lang="en-US" sz="1300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depends on dataset quality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537960" y="2560320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  </a:t>
            </a:r>
            <a:pPr indent="0" marL="0">
              <a:buNone/>
            </a:pPr>
            <a:r>
              <a:rPr lang="en-US" sz="1300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methods varied across states and over time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6537960" y="3200400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  </a:t>
            </a:r>
            <a:pPr indent="0" marL="0">
              <a:buNone/>
            </a:pPr>
            <a:r>
              <a:rPr lang="en-US" sz="1300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/ inconsistent source records can affect results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6537960" y="3840480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  </a:t>
            </a:r>
            <a:pPr indent="0" marL="0">
              <a:buNone/>
            </a:pPr>
            <a:r>
              <a:rPr lang="en-US" sz="1300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 historical 2020-2022 information only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6537960" y="4480560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  </a:t>
            </a:r>
            <a:pPr indent="0" marL="0">
              <a:buNone/>
            </a:pPr>
            <a:r>
              <a:rPr lang="en-US" sz="1300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Primarily an academic analytics project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6537960" y="5120640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  </a:t>
            </a:r>
            <a:pPr indent="0" marL="0">
              <a:buNone/>
            </a:pPr>
            <a:r>
              <a:rPr lang="en-US" sz="1300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for medical, clinical or policy decisions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F7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 |  IMPLEMENTATION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built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COVID-19 Data Visualization Dashboard  |  BCA 5th Semester Minor Project  |  Sigma University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091672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71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7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STAGE (steps 1-5)  |  APPLICATION STAGE (steps 6-16)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197864" y="2121408"/>
            <a:ext cx="9793224" cy="0"/>
          </a:xfrm>
          <a:prstGeom prst="line">
            <a:avLst/>
          </a:prstGeom>
          <a:noFill/>
          <a:ln w="25400">
            <a:solidFill>
              <a:srgbClr val="D9E4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24128" y="1965960"/>
            <a:ext cx="347472" cy="347472"/>
          </a:xfrm>
          <a:prstGeom prst="ellipse">
            <a:avLst/>
          </a:prstGeom>
          <a:solidFill>
            <a:srgbClr val="1BA78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24128" y="19659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468880"/>
            <a:ext cx="1298448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E4EC"/>
            </a:solidFill>
            <a:prstDash val="solid"/>
          </a:ln>
          <a:effectLst>
            <a:outerShdw sx="100000" sy="100000" kx="0" ky="0" algn="bl" rotWithShape="0" blurRad="101600" dist="25400" dir="5400000">
              <a:srgbClr val="0F2A4A">
                <a:alpha val="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21792" y="2468880"/>
            <a:ext cx="1152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Loaded the COVID-19 dataset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2423160" y="1965960"/>
            <a:ext cx="347472" cy="347472"/>
          </a:xfrm>
          <a:prstGeom prst="ellipse">
            <a:avLst/>
          </a:prstGeom>
          <a:solidFill>
            <a:srgbClr val="1BA78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423160" y="19659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947672" y="2468880"/>
            <a:ext cx="1298448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E4EC"/>
            </a:solidFill>
            <a:prstDash val="solid"/>
          </a:ln>
          <a:effectLst>
            <a:outerShdw sx="100000" sy="100000" kx="0" ky="0" algn="bl" rotWithShape="0" blurRad="101600" dist="25400" dir="5400000">
              <a:srgbClr val="0F2A4A">
                <a:alpha val="8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2020824" y="2468880"/>
            <a:ext cx="1152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 raw data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822192" y="1965960"/>
            <a:ext cx="347472" cy="347472"/>
          </a:xfrm>
          <a:prstGeom prst="ellipse">
            <a:avLst/>
          </a:prstGeom>
          <a:solidFill>
            <a:srgbClr val="1BA78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822192" y="19659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346704" y="2468880"/>
            <a:ext cx="1298448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E4EC"/>
            </a:solidFill>
            <a:prstDash val="solid"/>
          </a:ln>
          <a:effectLst>
            <a:outerShdw sx="100000" sy="100000" kx="0" ky="0" algn="bl" rotWithShape="0" blurRad="101600" dist="25400" dir="5400000">
              <a:srgbClr val="0F2A4A">
                <a:alpha val="8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3419856" y="2468880"/>
            <a:ext cx="1152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 fields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221224" y="1965960"/>
            <a:ext cx="347472" cy="347472"/>
          </a:xfrm>
          <a:prstGeom prst="ellipse">
            <a:avLst/>
          </a:prstGeom>
          <a:solidFill>
            <a:srgbClr val="1BA78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221224" y="19659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745736" y="2468880"/>
            <a:ext cx="1298448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E4EC"/>
            </a:solidFill>
            <a:prstDash val="solid"/>
          </a:ln>
          <a:effectLst>
            <a:outerShdw sx="100000" sy="100000" kx="0" ky="0" algn="bl" rotWithShape="0" blurRad="101600" dist="25400" dir="5400000">
              <a:srgbClr val="0F2A4A">
                <a:alpha val="8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4818888" y="2468880"/>
            <a:ext cx="1152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records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620256" y="1965960"/>
            <a:ext cx="347472" cy="347472"/>
          </a:xfrm>
          <a:prstGeom prst="ellipse">
            <a:avLst/>
          </a:prstGeom>
          <a:solidFill>
            <a:srgbClr val="1BA78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620256" y="19659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144768" y="2468880"/>
            <a:ext cx="1298448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E4EC"/>
            </a:solidFill>
            <a:prstDash val="solid"/>
          </a:ln>
          <a:effectLst>
            <a:outerShdw sx="100000" sy="100000" kx="0" ky="0" algn="bl" rotWithShape="0" blurRad="101600" dist="25400" dir="5400000">
              <a:srgbClr val="0F2A4A">
                <a:alpha val="8000"/>
              </a:srgbClr>
            </a:outerShdw>
          </a:effectLst>
        </p:spPr>
      </p:sp>
      <p:sp>
        <p:nvSpPr>
          <p:cNvPr id="27" name="Text 25"/>
          <p:cNvSpPr txBox="1"/>
          <p:nvPr/>
        </p:nvSpPr>
        <p:spPr>
          <a:xfrm>
            <a:off x="6217920" y="2468880"/>
            <a:ext cx="1152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processed metrics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8019288" y="1965960"/>
            <a:ext cx="347472" cy="347472"/>
          </a:xfrm>
          <a:prstGeom prst="ellipse">
            <a:avLst/>
          </a:prstGeom>
          <a:solidFill>
            <a:srgbClr val="1F7FB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019288" y="19659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7543800" y="2468880"/>
            <a:ext cx="1298448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E4EC"/>
            </a:solidFill>
            <a:prstDash val="solid"/>
          </a:ln>
          <a:effectLst>
            <a:outerShdw sx="100000" sy="100000" kx="0" ky="0" algn="bl" rotWithShape="0" blurRad="101600" dist="25400" dir="5400000">
              <a:srgbClr val="0F2A4A">
                <a:alpha val="8000"/>
              </a:srgbClr>
            </a:outerShdw>
          </a:effectLst>
        </p:spPr>
      </p:sp>
      <p:sp>
        <p:nvSpPr>
          <p:cNvPr id="31" name="Text 29"/>
          <p:cNvSpPr txBox="1"/>
          <p:nvPr/>
        </p:nvSpPr>
        <p:spPr>
          <a:xfrm>
            <a:off x="7616952" y="2468880"/>
            <a:ext cx="1152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frontend structure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9418320" y="1965960"/>
            <a:ext cx="347472" cy="347472"/>
          </a:xfrm>
          <a:prstGeom prst="ellipse">
            <a:avLst/>
          </a:prstGeom>
          <a:solidFill>
            <a:srgbClr val="1F7FB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9418320" y="19659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8942832" y="2468880"/>
            <a:ext cx="1298448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E4EC"/>
            </a:solidFill>
            <a:prstDash val="solid"/>
          </a:ln>
          <a:effectLst>
            <a:outerShdw sx="100000" sy="100000" kx="0" ky="0" algn="bl" rotWithShape="0" blurRad="101600" dist="25400" dir="5400000">
              <a:srgbClr val="0F2A4A">
                <a:alpha val="8000"/>
              </a:srgbClr>
            </a:outerShdw>
          </a:effectLst>
        </p:spPr>
      </p:sp>
      <p:sp>
        <p:nvSpPr>
          <p:cNvPr id="35" name="Text 33"/>
          <p:cNvSpPr txBox="1"/>
          <p:nvPr/>
        </p:nvSpPr>
        <p:spPr>
          <a:xfrm>
            <a:off x="9015984" y="2468880"/>
            <a:ext cx="1152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JavaScript data engine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10817352" y="1965960"/>
            <a:ext cx="347472" cy="347472"/>
          </a:xfrm>
          <a:prstGeom prst="ellipse">
            <a:avLst/>
          </a:prstGeom>
          <a:solidFill>
            <a:srgbClr val="1F7FB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10817352" y="19659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0341864" y="2468880"/>
            <a:ext cx="1298448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E4EC"/>
            </a:solidFill>
            <a:prstDash val="solid"/>
          </a:ln>
          <a:effectLst>
            <a:outerShdw sx="100000" sy="100000" kx="0" ky="0" algn="bl" rotWithShape="0" blurRad="101600" dist="25400" dir="5400000">
              <a:srgbClr val="0F2A4A">
                <a:alpha val="8000"/>
              </a:srgbClr>
            </a:outerShdw>
          </a:effectLst>
        </p:spPr>
      </p:sp>
      <p:sp>
        <p:nvSpPr>
          <p:cNvPr id="39" name="Text 37"/>
          <p:cNvSpPr txBox="1"/>
          <p:nvPr/>
        </p:nvSpPr>
        <p:spPr>
          <a:xfrm>
            <a:off x="10415016" y="2468880"/>
            <a:ext cx="1152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dynamic filters</a:t>
            </a:r>
            <a:endParaRPr lang="en-US" sz="1150" dirty="0"/>
          </a:p>
        </p:txBody>
      </p:sp>
      <p:sp>
        <p:nvSpPr>
          <p:cNvPr id="40" name="Text 38"/>
          <p:cNvSpPr txBox="1"/>
          <p:nvPr/>
        </p:nvSpPr>
        <p:spPr>
          <a:xfrm>
            <a:off x="548640" y="3657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7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STAGE (continued)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1197864" y="4407408"/>
            <a:ext cx="9793224" cy="0"/>
          </a:xfrm>
          <a:prstGeom prst="line">
            <a:avLst/>
          </a:prstGeom>
          <a:noFill/>
          <a:ln w="25400">
            <a:solidFill>
              <a:srgbClr val="D9E4EC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024128" y="4251960"/>
            <a:ext cx="347472" cy="347472"/>
          </a:xfrm>
          <a:prstGeom prst="ellipse">
            <a:avLst/>
          </a:prstGeom>
          <a:solidFill>
            <a:srgbClr val="1F7FB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1024128" y="42519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548640" y="4754880"/>
            <a:ext cx="1298448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E4EC"/>
            </a:solidFill>
            <a:prstDash val="solid"/>
          </a:ln>
          <a:effectLst>
            <a:outerShdw sx="100000" sy="100000" kx="0" ky="0" algn="bl" rotWithShape="0" blurRad="101600" dist="25400" dir="5400000">
              <a:srgbClr val="0F2A4A">
                <a:alpha val="8000"/>
              </a:srgbClr>
            </a:outerShdw>
          </a:effectLst>
        </p:spPr>
      </p:sp>
      <p:sp>
        <p:nvSpPr>
          <p:cNvPr id="45" name="Text 43"/>
          <p:cNvSpPr txBox="1"/>
          <p:nvPr/>
        </p:nvSpPr>
        <p:spPr>
          <a:xfrm>
            <a:off x="621792" y="4754880"/>
            <a:ext cx="1152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KPI cards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2423160" y="4251960"/>
            <a:ext cx="347472" cy="347472"/>
          </a:xfrm>
          <a:prstGeom prst="ellipse">
            <a:avLst/>
          </a:prstGeom>
          <a:solidFill>
            <a:srgbClr val="1F7FB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2423160" y="42519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1947672" y="4754880"/>
            <a:ext cx="1298448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E4EC"/>
            </a:solidFill>
            <a:prstDash val="solid"/>
          </a:ln>
          <a:effectLst>
            <a:outerShdw sx="100000" sy="100000" kx="0" ky="0" algn="bl" rotWithShape="0" blurRad="101600" dist="25400" dir="5400000">
              <a:srgbClr val="0F2A4A">
                <a:alpha val="8000"/>
              </a:srgbClr>
            </a:outerShdw>
          </a:effectLst>
        </p:spPr>
      </p:sp>
      <p:sp>
        <p:nvSpPr>
          <p:cNvPr id="49" name="Text 47"/>
          <p:cNvSpPr txBox="1"/>
          <p:nvPr/>
        </p:nvSpPr>
        <p:spPr>
          <a:xfrm>
            <a:off x="2020824" y="4754880"/>
            <a:ext cx="1152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interactive charts</a:t>
            </a:r>
            <a:endParaRPr lang="en-US" sz="1150" dirty="0"/>
          </a:p>
        </p:txBody>
      </p:sp>
      <p:sp>
        <p:nvSpPr>
          <p:cNvPr id="50" name="Shape 48"/>
          <p:cNvSpPr/>
          <p:nvPr/>
        </p:nvSpPr>
        <p:spPr>
          <a:xfrm>
            <a:off x="3822192" y="4251960"/>
            <a:ext cx="347472" cy="347472"/>
          </a:xfrm>
          <a:prstGeom prst="ellipse">
            <a:avLst/>
          </a:prstGeom>
          <a:solidFill>
            <a:srgbClr val="1F7FB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3822192" y="42519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3346704" y="4754880"/>
            <a:ext cx="1298448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E4EC"/>
            </a:solidFill>
            <a:prstDash val="solid"/>
          </a:ln>
          <a:effectLst>
            <a:outerShdw sx="100000" sy="100000" kx="0" ky="0" algn="bl" rotWithShape="0" blurRad="101600" dist="25400" dir="5400000">
              <a:srgbClr val="0F2A4A">
                <a:alpha val="8000"/>
              </a:srgbClr>
            </a:outerShdw>
          </a:effectLst>
        </p:spPr>
      </p:sp>
      <p:sp>
        <p:nvSpPr>
          <p:cNvPr id="53" name="Text 51"/>
          <p:cNvSpPr txBox="1"/>
          <p:nvPr/>
        </p:nvSpPr>
        <p:spPr>
          <a:xfrm>
            <a:off x="3419856" y="4754880"/>
            <a:ext cx="1152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India geographic map</a:t>
            </a:r>
            <a:endParaRPr lang="en-US" sz="1150" dirty="0"/>
          </a:p>
        </p:txBody>
      </p:sp>
      <p:sp>
        <p:nvSpPr>
          <p:cNvPr id="54" name="Shape 52"/>
          <p:cNvSpPr/>
          <p:nvPr/>
        </p:nvSpPr>
        <p:spPr>
          <a:xfrm>
            <a:off x="5221224" y="4251960"/>
            <a:ext cx="347472" cy="347472"/>
          </a:xfrm>
          <a:prstGeom prst="ellipse">
            <a:avLst/>
          </a:prstGeom>
          <a:solidFill>
            <a:srgbClr val="1F7FB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5221224" y="42519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4745736" y="4754880"/>
            <a:ext cx="1298448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E4EC"/>
            </a:solidFill>
            <a:prstDash val="solid"/>
          </a:ln>
          <a:effectLst>
            <a:outerShdw sx="100000" sy="100000" kx="0" ky="0" algn="bl" rotWithShape="0" blurRad="101600" dist="25400" dir="5400000">
              <a:srgbClr val="0F2A4A">
                <a:alpha val="8000"/>
              </a:srgbClr>
            </a:outerShdw>
          </a:effectLst>
        </p:spPr>
      </p:sp>
      <p:sp>
        <p:nvSpPr>
          <p:cNvPr id="57" name="Text 55"/>
          <p:cNvSpPr txBox="1"/>
          <p:nvPr/>
        </p:nvSpPr>
        <p:spPr>
          <a:xfrm>
            <a:off x="4818888" y="4754880"/>
            <a:ext cx="1152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CSV / XLSX upload</a:t>
            </a:r>
            <a:endParaRPr lang="en-US" sz="1150" dirty="0"/>
          </a:p>
        </p:txBody>
      </p:sp>
      <p:sp>
        <p:nvSpPr>
          <p:cNvPr id="58" name="Shape 56"/>
          <p:cNvSpPr/>
          <p:nvPr/>
        </p:nvSpPr>
        <p:spPr>
          <a:xfrm>
            <a:off x="6620256" y="4251960"/>
            <a:ext cx="347472" cy="347472"/>
          </a:xfrm>
          <a:prstGeom prst="ellipse">
            <a:avLst/>
          </a:prstGeom>
          <a:solidFill>
            <a:srgbClr val="1F7FB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6620256" y="42519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6144768" y="4754880"/>
            <a:ext cx="1298448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E4EC"/>
            </a:solidFill>
            <a:prstDash val="solid"/>
          </a:ln>
          <a:effectLst>
            <a:outerShdw sx="100000" sy="100000" kx="0" ky="0" algn="bl" rotWithShape="0" blurRad="101600" dist="25400" dir="5400000">
              <a:srgbClr val="0F2A4A">
                <a:alpha val="8000"/>
              </a:srgbClr>
            </a:outerShdw>
          </a:effectLst>
        </p:spPr>
      </p:sp>
      <p:sp>
        <p:nvSpPr>
          <p:cNvPr id="61" name="Text 59"/>
          <p:cNvSpPr txBox="1"/>
          <p:nvPr/>
        </p:nvSpPr>
        <p:spPr>
          <a:xfrm>
            <a:off x="6217920" y="4754880"/>
            <a:ext cx="1152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automated insights</a:t>
            </a:r>
            <a:endParaRPr lang="en-US" sz="1150" dirty="0"/>
          </a:p>
        </p:txBody>
      </p:sp>
      <p:sp>
        <p:nvSpPr>
          <p:cNvPr id="62" name="Shape 60"/>
          <p:cNvSpPr/>
          <p:nvPr/>
        </p:nvSpPr>
        <p:spPr>
          <a:xfrm>
            <a:off x="8019288" y="4251960"/>
            <a:ext cx="347472" cy="347472"/>
          </a:xfrm>
          <a:prstGeom prst="ellipse">
            <a:avLst/>
          </a:prstGeom>
          <a:solidFill>
            <a:srgbClr val="1F7FB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8019288" y="42519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7543800" y="4754880"/>
            <a:ext cx="1298448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E4EC"/>
            </a:solidFill>
            <a:prstDash val="solid"/>
          </a:ln>
          <a:effectLst>
            <a:outerShdw sx="100000" sy="100000" kx="0" ky="0" algn="bl" rotWithShape="0" blurRad="101600" dist="25400" dir="5400000">
              <a:srgbClr val="0F2A4A">
                <a:alpha val="8000"/>
              </a:srgbClr>
            </a:outerShdw>
          </a:effectLst>
        </p:spPr>
      </p:sp>
      <p:sp>
        <p:nvSpPr>
          <p:cNvPr id="65" name="Text 63"/>
          <p:cNvSpPr txBox="1"/>
          <p:nvPr/>
        </p:nvSpPr>
        <p:spPr>
          <a:xfrm>
            <a:off x="7616952" y="4754880"/>
            <a:ext cx="1152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responsive design</a:t>
            </a:r>
            <a:endParaRPr lang="en-US" sz="1150" dirty="0"/>
          </a:p>
        </p:txBody>
      </p:sp>
      <p:sp>
        <p:nvSpPr>
          <p:cNvPr id="66" name="Shape 64"/>
          <p:cNvSpPr/>
          <p:nvPr/>
        </p:nvSpPr>
        <p:spPr>
          <a:xfrm>
            <a:off x="9418320" y="4251960"/>
            <a:ext cx="347472" cy="347472"/>
          </a:xfrm>
          <a:prstGeom prst="ellipse">
            <a:avLst/>
          </a:prstGeom>
          <a:solidFill>
            <a:srgbClr val="1F7FB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7" name="Text 65"/>
          <p:cNvSpPr txBox="1"/>
          <p:nvPr/>
        </p:nvSpPr>
        <p:spPr>
          <a:xfrm>
            <a:off x="9418320" y="42519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100" dirty="0"/>
          </a:p>
        </p:txBody>
      </p:sp>
      <p:sp>
        <p:nvSpPr>
          <p:cNvPr id="68" name="Shape 66"/>
          <p:cNvSpPr/>
          <p:nvPr/>
        </p:nvSpPr>
        <p:spPr>
          <a:xfrm>
            <a:off x="8942832" y="4754880"/>
            <a:ext cx="1298448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E4EC"/>
            </a:solidFill>
            <a:prstDash val="solid"/>
          </a:ln>
          <a:effectLst>
            <a:outerShdw sx="100000" sy="100000" kx="0" ky="0" algn="bl" rotWithShape="0" blurRad="101600" dist="25400" dir="5400000">
              <a:srgbClr val="0F2A4A">
                <a:alpha val="8000"/>
              </a:srgbClr>
            </a:outerShdw>
          </a:effectLst>
        </p:spPr>
      </p:sp>
      <p:sp>
        <p:nvSpPr>
          <p:cNvPr id="69" name="Text 67"/>
          <p:cNvSpPr txBox="1"/>
          <p:nvPr/>
        </p:nvSpPr>
        <p:spPr>
          <a:xfrm>
            <a:off x="9015984" y="4754880"/>
            <a:ext cx="1152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light / dark mode</a:t>
            </a:r>
            <a:endParaRPr lang="en-US" sz="1150" dirty="0"/>
          </a:p>
        </p:txBody>
      </p:sp>
      <p:sp>
        <p:nvSpPr>
          <p:cNvPr id="70" name="Shape 68"/>
          <p:cNvSpPr/>
          <p:nvPr/>
        </p:nvSpPr>
        <p:spPr>
          <a:xfrm>
            <a:off x="10817352" y="4251960"/>
            <a:ext cx="347472" cy="347472"/>
          </a:xfrm>
          <a:prstGeom prst="ellipse">
            <a:avLst/>
          </a:prstGeom>
          <a:solidFill>
            <a:srgbClr val="7C4DD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1" name="Text 69"/>
          <p:cNvSpPr txBox="1"/>
          <p:nvPr/>
        </p:nvSpPr>
        <p:spPr>
          <a:xfrm>
            <a:off x="10817352" y="42519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100" dirty="0"/>
          </a:p>
        </p:txBody>
      </p:sp>
      <p:sp>
        <p:nvSpPr>
          <p:cNvPr id="72" name="Shape 70"/>
          <p:cNvSpPr/>
          <p:nvPr/>
        </p:nvSpPr>
        <p:spPr>
          <a:xfrm>
            <a:off x="10341864" y="4754880"/>
            <a:ext cx="1298448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E4EC"/>
            </a:solidFill>
            <a:prstDash val="solid"/>
          </a:ln>
          <a:effectLst>
            <a:outerShdw sx="100000" sy="100000" kx="0" ky="0" algn="bl" rotWithShape="0" blurRad="101600" dist="25400" dir="5400000">
              <a:srgbClr val="0F2A4A">
                <a:alpha val="8000"/>
              </a:srgbClr>
            </a:outerShdw>
          </a:effectLst>
        </p:spPr>
      </p:sp>
      <p:sp>
        <p:nvSpPr>
          <p:cNvPr id="73" name="Text 71"/>
          <p:cNvSpPr txBox="1"/>
          <p:nvPr/>
        </p:nvSpPr>
        <p:spPr>
          <a:xfrm>
            <a:off x="10415016" y="4754880"/>
            <a:ext cx="1152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into one dashboard</a:t>
            </a:r>
            <a:endParaRPr lang="en-US" sz="1150" dirty="0"/>
          </a:p>
        </p:txBody>
      </p:sp>
      <p:sp>
        <p:nvSpPr>
          <p:cNvPr id="74" name="Shape 72"/>
          <p:cNvSpPr/>
          <p:nvPr/>
        </p:nvSpPr>
        <p:spPr>
          <a:xfrm>
            <a:off x="548640" y="5943600"/>
            <a:ext cx="11091672" cy="411480"/>
          </a:xfrm>
          <a:prstGeom prst="roundRect">
            <a:avLst>
              <a:gd name="adj" fmla="val 22222"/>
            </a:avLst>
          </a:prstGeom>
          <a:solidFill>
            <a:srgbClr val="E8F3FA"/>
          </a:solidFill>
          <a:ln w="12700">
            <a:solidFill>
              <a:srgbClr val="E8F3FA"/>
            </a:solidFill>
            <a:prstDash val="solid"/>
          </a:ln>
        </p:spPr>
      </p:sp>
      <p:sp>
        <p:nvSpPr>
          <p:cNvPr id="75" name="Text 73"/>
          <p:cNvSpPr txBox="1"/>
          <p:nvPr/>
        </p:nvSpPr>
        <p:spPr>
          <a:xfrm>
            <a:off x="731520" y="5943600"/>
            <a:ext cx="10725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7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explanation:  </a:t>
            </a:r>
            <a:pPr indent="0" marL="0">
              <a:buNone/>
            </a:pPr>
            <a:r>
              <a:rPr lang="en-US" sz="1300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first, then the dashboard: 5 data steps and 11 application steps.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F7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 |  RESULT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dashboard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COVID-19 Data Visualization Dashboard  |  BCA 5th Semester Minor Project  |  Sigma University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091672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75488" y="1298448"/>
            <a:ext cx="3712464" cy="2726714"/>
          </a:xfrm>
          <a:prstGeom prst="roundRect">
            <a:avLst>
              <a:gd name="adj" fmla="val 3353"/>
            </a:avLst>
          </a:prstGeom>
          <a:solidFill>
            <a:srgbClr val="FFFFFF"/>
          </a:solidFill>
          <a:ln w="9525">
            <a:solidFill>
              <a:srgbClr val="D9E4EC"/>
            </a:solidFill>
            <a:prstDash val="solid"/>
          </a:ln>
          <a:effectLst>
            <a:outerShdw sx="100000" sy="100000" kx="0" ky="0" algn="bl" rotWithShape="0" blurRad="101600" dist="25400" dir="5400000">
              <a:srgbClr val="0F2A4A">
                <a:alpha val="8000"/>
              </a:srgbClr>
            </a:outerShdw>
          </a:effectLst>
        </p:spPr>
      </p:sp>
      <p:pic>
        <p:nvPicPr>
          <p:cNvPr id="7" name="Image 0" descr="/home/claude/img/char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3566160" cy="258041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270248" y="1298448"/>
            <a:ext cx="3803904" cy="1572453"/>
          </a:xfrm>
          <a:prstGeom prst="roundRect">
            <a:avLst>
              <a:gd name="adj" fmla="val 5815"/>
            </a:avLst>
          </a:prstGeom>
          <a:solidFill>
            <a:srgbClr val="FFFFFF"/>
          </a:solidFill>
          <a:ln w="9525">
            <a:solidFill>
              <a:srgbClr val="D9E4EC"/>
            </a:solidFill>
            <a:prstDash val="solid"/>
          </a:ln>
          <a:effectLst>
            <a:outerShdw sx="100000" sy="100000" kx="0" ky="0" algn="bl" rotWithShape="0" blurRad="101600" dist="25400" dir="5400000">
              <a:srgbClr val="0F2A4A">
                <a:alpha val="8000"/>
              </a:srgbClr>
            </a:outerShdw>
          </a:effectLst>
        </p:spPr>
      </p:sp>
      <p:pic>
        <p:nvPicPr>
          <p:cNvPr id="9" name="Image 1" descr="/home/claude/img/mapcar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400" y="1371600"/>
            <a:ext cx="3657600" cy="1426149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270248" y="3310128"/>
            <a:ext cx="3803904" cy="1607160"/>
          </a:xfrm>
          <a:prstGeom prst="roundRect">
            <a:avLst>
              <a:gd name="adj" fmla="val 5690"/>
            </a:avLst>
          </a:prstGeom>
          <a:solidFill>
            <a:srgbClr val="FFFFFF"/>
          </a:solidFill>
          <a:ln w="9525">
            <a:solidFill>
              <a:srgbClr val="D9E4EC"/>
            </a:solidFill>
            <a:prstDash val="solid"/>
          </a:ln>
          <a:effectLst>
            <a:outerShdw sx="100000" sy="100000" kx="0" ky="0" algn="bl" rotWithShape="0" blurRad="101600" dist="25400" dir="5400000">
              <a:srgbClr val="0F2A4A">
                <a:alpha val="8000"/>
              </a:srgbClr>
            </a:outerShdw>
          </a:effectLst>
        </p:spPr>
      </p:sp>
      <p:pic>
        <p:nvPicPr>
          <p:cNvPr id="11" name="Image 2" descr="/home/claude/img/kpi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400" y="3383280"/>
            <a:ext cx="3657600" cy="1460856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8156448" y="1298448"/>
            <a:ext cx="3529584" cy="1527894"/>
          </a:xfrm>
          <a:prstGeom prst="roundRect">
            <a:avLst>
              <a:gd name="adj" fmla="val 5985"/>
            </a:avLst>
          </a:prstGeom>
          <a:solidFill>
            <a:srgbClr val="FFFFFF"/>
          </a:solidFill>
          <a:ln w="9525">
            <a:solidFill>
              <a:srgbClr val="D9E4EC"/>
            </a:solidFill>
            <a:prstDash val="solid"/>
          </a:ln>
          <a:effectLst>
            <a:outerShdw sx="100000" sy="100000" kx="0" ky="0" algn="bl" rotWithShape="0" blurRad="101600" dist="25400" dir="5400000">
              <a:srgbClr val="0F2A4A">
                <a:alpha val="8000"/>
              </a:srgbClr>
            </a:outerShdw>
          </a:effectLst>
        </p:spPr>
      </p:sp>
      <p:pic>
        <p:nvPicPr>
          <p:cNvPr id="13" name="Image 3" descr="/home/claude/img/insight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0" y="1371600"/>
            <a:ext cx="3383280" cy="1381590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8156448" y="2944368"/>
            <a:ext cx="3529584" cy="1903590"/>
          </a:xfrm>
          <a:prstGeom prst="roundRect">
            <a:avLst>
              <a:gd name="adj" fmla="val 4804"/>
            </a:avLst>
          </a:prstGeom>
          <a:solidFill>
            <a:srgbClr val="FFFFFF"/>
          </a:solidFill>
          <a:ln w="9525">
            <a:solidFill>
              <a:srgbClr val="D9E4EC"/>
            </a:solidFill>
            <a:prstDash val="solid"/>
          </a:ln>
          <a:effectLst>
            <a:outerShdw sx="100000" sy="100000" kx="0" ky="0" algn="bl" rotWithShape="0" blurRad="101600" dist="25400" dir="5400000">
              <a:srgbClr val="0F2A4A">
                <a:alpha val="8000"/>
              </a:srgbClr>
            </a:outerShdw>
          </a:effectLst>
        </p:spPr>
      </p:sp>
      <p:pic>
        <p:nvPicPr>
          <p:cNvPr id="15" name="Image 4" descr="/home/claude/img/compar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0" y="3017520"/>
            <a:ext cx="3383280" cy="175728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548640" y="5257800"/>
            <a:ext cx="5440680" cy="685800"/>
          </a:xfrm>
          <a:prstGeom prst="roundRect">
            <a:avLst>
              <a:gd name="adj" fmla="val 16000"/>
            </a:avLst>
          </a:prstGeom>
          <a:solidFill>
            <a:srgbClr val="E8F3FA"/>
          </a:solidFill>
          <a:ln w="9525">
            <a:solidFill>
              <a:srgbClr val="E8F3FA"/>
            </a:solidFill>
            <a:prstDash val="solid"/>
          </a:ln>
        </p:spPr>
      </p:sp>
      <p:sp>
        <p:nvSpPr>
          <p:cNvPr id="17" name="Text 10"/>
          <p:cNvSpPr txBox="1"/>
          <p:nvPr/>
        </p:nvSpPr>
        <p:spPr>
          <a:xfrm>
            <a:off x="731520" y="5257800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data to interactive analytics.</a:t>
            </a:r>
            <a:endParaRPr lang="en-US" sz="1500" dirty="0"/>
          </a:p>
        </p:txBody>
      </p:sp>
      <p:sp>
        <p:nvSpPr>
          <p:cNvPr id="18" name="Shape 11"/>
          <p:cNvSpPr/>
          <p:nvPr/>
        </p:nvSpPr>
        <p:spPr>
          <a:xfrm>
            <a:off x="6126480" y="5257800"/>
            <a:ext cx="5440680" cy="685800"/>
          </a:xfrm>
          <a:prstGeom prst="roundRect">
            <a:avLst>
              <a:gd name="adj" fmla="val 16000"/>
            </a:avLst>
          </a:prstGeom>
          <a:solidFill>
            <a:srgbClr val="E8F3FA"/>
          </a:solidFill>
          <a:ln w="9525">
            <a:solidFill>
              <a:srgbClr val="E8F3FA"/>
            </a:solidFill>
            <a:prstDash val="solid"/>
          </a:ln>
        </p:spPr>
      </p:sp>
      <p:sp>
        <p:nvSpPr>
          <p:cNvPr id="19" name="Text 12"/>
          <p:cNvSpPr txBox="1"/>
          <p:nvPr/>
        </p:nvSpPr>
        <p:spPr>
          <a:xfrm>
            <a:off x="6309360" y="5257800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dashboard for state-wise and year-wise COVID-19 exploration.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F7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 |  WRAP-UP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scope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COVID-19 Data Visualization Dashboard  |  BCA 5th Semester Minor Project  |  Sigma University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091672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4937760" cy="4526280"/>
          </a:xfrm>
          <a:prstGeom prst="roundRect">
            <a:avLst>
              <a:gd name="adj" fmla="val 2424"/>
            </a:avLst>
          </a:prstGeom>
          <a:solidFill>
            <a:srgbClr val="E8F3FA"/>
          </a:solidFill>
          <a:ln w="9525">
            <a:solidFill>
              <a:srgbClr val="E8F3F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600200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737360"/>
            <a:ext cx="274320" cy="27432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554480" y="16916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F7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2423160"/>
            <a:ext cx="43891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 shows how data engineering, preprocessing, JavaScript development and data visualization can turn a complex COVID-19 dataset into an interactive analytical dashboard.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502920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7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 +  Web Development  +  Data Engineering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806440" y="1371600"/>
            <a:ext cx="5833872" cy="457200"/>
          </a:xfrm>
          <a:prstGeom prst="roundRect">
            <a:avLst>
              <a:gd name="adj" fmla="val 20000"/>
            </a:avLst>
          </a:prstGeom>
          <a:solidFill>
            <a:srgbClr val="7C4DDB"/>
          </a:solidFill>
          <a:ln w="12700">
            <a:solidFill>
              <a:srgbClr val="7C4DDB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806440" y="1371600"/>
            <a:ext cx="5833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  (not part of the current system)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806440" y="2011680"/>
            <a:ext cx="2862072" cy="658368"/>
          </a:xfrm>
          <a:prstGeom prst="roundRect">
            <a:avLst>
              <a:gd name="adj" fmla="val 11111"/>
            </a:avLst>
          </a:prstGeom>
          <a:solidFill>
            <a:srgbClr val="EFE9FB"/>
          </a:solidFill>
          <a:ln w="9525">
            <a:solidFill>
              <a:srgbClr val="EFE9FB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943600" y="2011680"/>
            <a:ext cx="2606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historical / current datasets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8778240" y="2011680"/>
            <a:ext cx="2862072" cy="658368"/>
          </a:xfrm>
          <a:prstGeom prst="roundRect">
            <a:avLst>
              <a:gd name="adj" fmla="val 11111"/>
            </a:avLst>
          </a:prstGeom>
          <a:solidFill>
            <a:srgbClr val="EFE9FB"/>
          </a:solidFill>
          <a:ln w="9525">
            <a:solidFill>
              <a:srgbClr val="EFE9FB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915400" y="2011680"/>
            <a:ext cx="2606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advanced statistical analysis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5806440" y="2788920"/>
            <a:ext cx="2862072" cy="658368"/>
          </a:xfrm>
          <a:prstGeom prst="roundRect">
            <a:avLst>
              <a:gd name="adj" fmla="val 11111"/>
            </a:avLst>
          </a:prstGeom>
          <a:solidFill>
            <a:srgbClr val="EFE9FB"/>
          </a:solidFill>
          <a:ln w="9525">
            <a:solidFill>
              <a:srgbClr val="EFE9FB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943600" y="2788920"/>
            <a:ext cx="2606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analytics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8778240" y="2788920"/>
            <a:ext cx="2862072" cy="658368"/>
          </a:xfrm>
          <a:prstGeom prst="roundRect">
            <a:avLst>
              <a:gd name="adj" fmla="val 11111"/>
            </a:avLst>
          </a:prstGeom>
          <a:solidFill>
            <a:srgbClr val="EFE9FB"/>
          </a:solidFill>
          <a:ln w="9525">
            <a:solidFill>
              <a:srgbClr val="EFE9FB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915400" y="2788920"/>
            <a:ext cx="2606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Forecasting models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5806440" y="3566160"/>
            <a:ext cx="2862072" cy="658368"/>
          </a:xfrm>
          <a:prstGeom prst="roundRect">
            <a:avLst>
              <a:gd name="adj" fmla="val 11111"/>
            </a:avLst>
          </a:prstGeom>
          <a:solidFill>
            <a:srgbClr val="EFE9FB"/>
          </a:solidFill>
          <a:ln w="9525">
            <a:solidFill>
              <a:srgbClr val="EFE9FB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5943600" y="3566160"/>
            <a:ext cx="2606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demographic indicators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8778240" y="3566160"/>
            <a:ext cx="2862072" cy="658368"/>
          </a:xfrm>
          <a:prstGeom prst="roundRect">
            <a:avLst>
              <a:gd name="adj" fmla="val 11111"/>
            </a:avLst>
          </a:prstGeom>
          <a:solidFill>
            <a:srgbClr val="EFE9FB"/>
          </a:solidFill>
          <a:ln w="9525">
            <a:solidFill>
              <a:srgbClr val="EFE9FB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8915400" y="3566160"/>
            <a:ext cx="2606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District-level analysis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5806440" y="4343400"/>
            <a:ext cx="2862072" cy="658368"/>
          </a:xfrm>
          <a:prstGeom prst="roundRect">
            <a:avLst>
              <a:gd name="adj" fmla="val 11111"/>
            </a:avLst>
          </a:prstGeom>
          <a:solidFill>
            <a:srgbClr val="EFE9FB"/>
          </a:solidFill>
          <a:ln w="9525">
            <a:solidFill>
              <a:srgbClr val="EFE9FB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5943600" y="4343400"/>
            <a:ext cx="2606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API-based data ingestion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8778240" y="4343400"/>
            <a:ext cx="2862072" cy="658368"/>
          </a:xfrm>
          <a:prstGeom prst="roundRect">
            <a:avLst>
              <a:gd name="adj" fmla="val 11111"/>
            </a:avLst>
          </a:prstGeom>
          <a:solidFill>
            <a:srgbClr val="EFE9FB"/>
          </a:solidFill>
          <a:ln w="9525">
            <a:solidFill>
              <a:srgbClr val="EFE9FB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8915400" y="4343400"/>
            <a:ext cx="2606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anomaly detection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5806440" y="5120640"/>
            <a:ext cx="2862072" cy="658368"/>
          </a:xfrm>
          <a:prstGeom prst="roundRect">
            <a:avLst>
              <a:gd name="adj" fmla="val 11111"/>
            </a:avLst>
          </a:prstGeom>
          <a:solidFill>
            <a:srgbClr val="EFE9FB"/>
          </a:solidFill>
          <a:ln w="9525">
            <a:solidFill>
              <a:srgbClr val="EFE9FB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5943600" y="5120640"/>
            <a:ext cx="2606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healthcare indicators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8778240" y="5120640"/>
            <a:ext cx="2862072" cy="658368"/>
          </a:xfrm>
          <a:prstGeom prst="roundRect">
            <a:avLst>
              <a:gd name="adj" fmla="val 11111"/>
            </a:avLst>
          </a:prstGeom>
          <a:solidFill>
            <a:srgbClr val="EFE9FB"/>
          </a:solidFill>
          <a:ln w="9525">
            <a:solidFill>
              <a:srgbClr val="EFE9FB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8915400" y="5120640"/>
            <a:ext cx="2606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improvements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F7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 |  TEAM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team &amp; contributors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COVID-19 Data Visualization Dashboard  |  BCA 5th Semester Minor Project  |  Sigma University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091672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11091672" cy="2148840"/>
          </a:xfrm>
          <a:prstGeom prst="roundRect">
            <a:avLst>
              <a:gd name="adj" fmla="val 5106"/>
            </a:avLst>
          </a:prstGeom>
          <a:solidFill>
            <a:srgbClr val="E8F3FA"/>
          </a:solidFill>
          <a:ln w="9525">
            <a:solidFill>
              <a:srgbClr val="E8F3F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05840" y="1874520"/>
            <a:ext cx="1143000" cy="1143000"/>
          </a:xfrm>
          <a:prstGeom prst="ellipse">
            <a:avLst/>
          </a:prstGeom>
          <a:solidFill>
            <a:srgbClr val="1F7FBF"/>
          </a:solidFill>
          <a:ln w="12700">
            <a:solidFill>
              <a:srgbClr val="1F7FBF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91590" y="2160270"/>
            <a:ext cx="571500" cy="57150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2560320" y="1691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F7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DEVELOPER &amp; PROJECT ARCHITECT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2560320" y="20574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Aziz Taheribhai Chharchhodawala</a:t>
            </a:r>
            <a:endParaRPr lang="en-US" sz="2800" dirty="0"/>
          </a:p>
        </p:txBody>
      </p:sp>
      <p:sp>
        <p:nvSpPr>
          <p:cNvPr id="11" name="Text 8"/>
          <p:cNvSpPr txBox="1"/>
          <p:nvPr/>
        </p:nvSpPr>
        <p:spPr>
          <a:xfrm>
            <a:off x="2560320" y="2743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4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 No.: 24S01BCA0004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3794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F7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CONTRIBUTORS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48640" y="4160520"/>
            <a:ext cx="5468112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D9E4EC"/>
            </a:solidFill>
            <a:prstDash val="solid"/>
          </a:ln>
          <a:effectLst>
            <a:outerShdw sx="100000" sy="100000" kx="0" ky="0" algn="bl" rotWithShape="0" blurRad="101600" dist="25400" dir="5400000">
              <a:srgbClr val="0F2A4A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822960" y="4434840"/>
            <a:ext cx="685800" cy="685800"/>
          </a:xfrm>
          <a:prstGeom prst="ellipse">
            <a:avLst/>
          </a:prstGeom>
          <a:solidFill>
            <a:srgbClr val="E8F3FA"/>
          </a:solidFill>
          <a:ln w="12700">
            <a:solidFill>
              <a:srgbClr val="E8F3FA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22960" y="44348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7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1737360" y="438912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Bhavin Suryavanshi</a:t>
            </a:r>
            <a:endParaRPr lang="en-US" sz="2000" dirty="0"/>
          </a:p>
        </p:txBody>
      </p:sp>
      <p:sp>
        <p:nvSpPr>
          <p:cNvPr id="17" name="Text 14"/>
          <p:cNvSpPr txBox="1"/>
          <p:nvPr/>
        </p:nvSpPr>
        <p:spPr>
          <a:xfrm>
            <a:off x="1737360" y="48463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 No.: 24S01BCA0039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6172200" y="4160520"/>
            <a:ext cx="5468112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D9E4EC"/>
            </a:solidFill>
            <a:prstDash val="solid"/>
          </a:ln>
          <a:effectLst>
            <a:outerShdw sx="100000" sy="100000" kx="0" ky="0" algn="bl" rotWithShape="0" blurRad="101600" dist="25400" dir="5400000">
              <a:srgbClr val="0F2A4A">
                <a:alpha val="8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6446520" y="4434840"/>
            <a:ext cx="685800" cy="685800"/>
          </a:xfrm>
          <a:prstGeom prst="ellipse">
            <a:avLst/>
          </a:prstGeom>
          <a:solidFill>
            <a:srgbClr val="E8F3FA"/>
          </a:solidFill>
          <a:ln w="12700">
            <a:solidFill>
              <a:srgbClr val="E8F3FA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446520" y="44348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7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</a:t>
            </a:r>
            <a:endParaRPr lang="en-US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7360920" y="438912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Chirag Dodiya</a:t>
            </a:r>
            <a:endParaRPr lang="en-US" sz="2000" dirty="0"/>
          </a:p>
        </p:txBody>
      </p:sp>
      <p:sp>
        <p:nvSpPr>
          <p:cNvPr id="22" name="Text 19"/>
          <p:cNvSpPr txBox="1"/>
          <p:nvPr/>
        </p:nvSpPr>
        <p:spPr>
          <a:xfrm>
            <a:off x="7360920" y="48463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 No.: 24S01BCA0034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548640" y="57150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7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BCA 5th Semester  |  Sigma University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55448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60604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1F7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3931920"/>
            <a:ext cx="566928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9525">
            <a:solidFill>
              <a:srgbClr val="D9E4EC"/>
            </a:solidFill>
            <a:prstDash val="solid"/>
          </a:ln>
          <a:effectLst>
            <a:outerShdw sx="100000" sy="100000" kx="0" ky="0" algn="bl" rotWithShape="0" blurRad="101600" dist="25400" dir="5400000">
              <a:srgbClr val="0F2A4A">
                <a:alpha val="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68680" y="406908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COVID-19 Data Visualization Dashboard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448056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BCA 5th Semester Minor Project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475488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7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Sigma University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223760" y="822960"/>
            <a:ext cx="4434840" cy="5212080"/>
          </a:xfrm>
          <a:prstGeom prst="roundRect">
            <a:avLst>
              <a:gd name="adj" fmla="val 4124"/>
            </a:avLst>
          </a:prstGeom>
          <a:solidFill>
            <a:srgbClr val="FFFFFF"/>
          </a:solidFill>
          <a:ln w="9525">
            <a:solidFill>
              <a:srgbClr val="D9E4EC"/>
            </a:solidFill>
            <a:prstDash val="solid"/>
          </a:ln>
          <a:effectLst>
            <a:outerShdw sx="100000" sy="100000" kx="0" ky="0" algn="bl" rotWithShape="0" blurRad="101600" dist="25400" dir="5400000">
              <a:srgbClr val="0F2A4A">
                <a:alpha val="8000"/>
              </a:srgbClr>
            </a:outerShdw>
          </a:effectLst>
        </p:spPr>
      </p:sp>
      <p:pic>
        <p:nvPicPr>
          <p:cNvPr id="9" name="Image 0" descr="/home/claude/img/indi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68471" y="1097280"/>
            <a:ext cx="3745419" cy="384048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7406640" y="5349240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github.com/aziz-ch52/covid19-data-dashboard-visualization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COVID-19 Data Visualization Dashboard</dc:title>
  <dc:subject>PptxGenJS Presentation</dc:subject>
  <dc:creator>Aziz Taheribhai Chharchhodawala</dc:creator>
  <cp:lastModifiedBy>Aziz Taheribhai Chharchhodawala</cp:lastModifiedBy>
  <cp:revision>1</cp:revision>
  <dcterms:created xsi:type="dcterms:W3CDTF">2026-09-28T14:40:35Z</dcterms:created>
  <dcterms:modified xsi:type="dcterms:W3CDTF">2026-09-28T14:40:35Z</dcterms:modified>
</cp:coreProperties>
</file>